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286000"/>
            <a:ext cx="6858000" cy="6858000"/>
          </a:xfrm>
          <a:prstGeom prst="ellipse">
            <a:avLst/>
          </a:prstGeom>
          <a:solidFill>
            <a:srgbClr val="C9A99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C9A9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24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STAR SPA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200" kern="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韓式 K-LAB 頭皮肌膚美學中心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66360" y="4069080"/>
            <a:ext cx="1828800" cy="0"/>
          </a:xfrm>
          <a:prstGeom prst="line">
            <a:avLst/>
          </a:prstGeom>
          <a:noFill/>
          <a:ln w="9525">
            <a:solidFill>
              <a:srgbClr val="C9A9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51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spc="2000" kern="0" dirty="0">
                <a:solidFill>
                  <a:srgbClr val="8B7E74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SCALP CARE  ×  SKIN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Brand Identity &amp; Compliance Deck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2852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品牌規範與合規簡報 ｜ Version 2.0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596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600" kern="0" dirty="0">
                <a:solidFill>
                  <a:srgbClr val="8B7E74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Korean Tech-Aesthetics &amp; Bioactive Beauty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2026 —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STAR SPA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56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02 / 08 —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0"/>
          </a:xfrm>
          <a:prstGeom prst="line">
            <a:avLst/>
          </a:prstGeom>
          <a:noFill/>
          <a:ln w="6350">
            <a:solidFill>
              <a:srgbClr val="D9D5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SCALP CARE × SKIN  ·  Brand Guidelines v2.0  ·  Compliance Edition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5943600" cy="5394960"/>
          </a:xfrm>
          <a:prstGeom prst="rect">
            <a:avLst/>
          </a:prstGeom>
          <a:solidFill>
            <a:srgbClr val="FAFAFA"/>
          </a:solidFill>
          <a:ln w="6350">
            <a:solidFill>
              <a:srgbClr val="D9D5D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i="1" spc="1200" kern="0" dirty="0">
                <a:solidFill>
                  <a:srgbClr val="2C2C2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Korean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i="1" spc="1200" kern="0" dirty="0">
                <a:solidFill>
                  <a:srgbClr val="2C2C2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Tech-Aesthetics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i="1" spc="1200" kern="0" dirty="0">
                <a:solidFill>
                  <a:srgbClr val="2C2C2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&amp;  Bioactive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i="1" spc="1200" kern="0" dirty="0">
                <a:solidFill>
                  <a:srgbClr val="2C2C2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Beauty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5303520"/>
            <a:ext cx="1828800" cy="0"/>
          </a:xfrm>
          <a:prstGeom prst="line">
            <a:avLst/>
          </a:prstGeom>
          <a:noFill/>
          <a:ln w="9525">
            <a:solidFill>
              <a:srgbClr val="C9A9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486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800" kern="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「水光通透．靜謐煥活」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868680"/>
            <a:ext cx="5029200" cy="5394960"/>
          </a:xfrm>
          <a:prstGeom prst="rect">
            <a:avLst/>
          </a:prstGeom>
          <a:solidFill>
            <a:srgbClr val="8B7E74"/>
          </a:solidFill>
          <a:ln w="12700">
            <a:solidFill>
              <a:srgbClr val="8B7E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188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6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定義高端美學新典範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40880" y="17556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C9A9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Redefining the Premium Beauty Destination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2148840"/>
            <a:ext cx="1097280" cy="0"/>
          </a:xfrm>
          <a:prstGeom prst="line">
            <a:avLst/>
          </a:prstGeom>
          <a:noFill/>
          <a:ln w="9525">
            <a:solidFill>
              <a:srgbClr val="C9A9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331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以韓國專業設備搭配韓式生化養護精萃，取代傳統手技；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讓每一次護理都是一次可被感受、可被看見的煥亮歷程。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3429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06640" y="3429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科技導入</a:t>
            </a:r>
            <a:pPr indent="0" marL="0">
              <a:buNone/>
            </a:pPr>
            <a:r>
              <a:rPr lang="en-US" sz="900" i="1" spc="200" kern="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   Tech-Driven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3703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6D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韓國專業設備 × 生化養護精萃，步步皆有專業邏輯支撐。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0" y="4343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4343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極致煥顏</a:t>
            </a:r>
            <a:pPr indent="0" marL="0">
              <a:buNone/>
            </a:pPr>
            <a:r>
              <a:rPr lang="en-US" sz="900" i="1" spc="200" kern="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   Radiant Renewal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06640" y="4617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6D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從頭皮到臉部的全肌膚養護管理，帶來真實可見的水光質感。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0" y="5257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5257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韓系美學</a:t>
            </a:r>
            <a:pPr indent="0" marL="0">
              <a:buNone/>
            </a:pPr>
            <a:r>
              <a:rPr lang="en-US" sz="900" i="1" spc="200" kern="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   K-Aesthetics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5532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6D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引進韓國極簡觀點與嚴謹服務，打造高端 SPA 新典範。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STAR SPA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56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03 / 08 —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0"/>
          </a:xfrm>
          <a:prstGeom prst="line">
            <a:avLst/>
          </a:prstGeom>
          <a:noFill/>
          <a:ln w="6350">
            <a:solidFill>
              <a:srgbClr val="D9D5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SCALP CARE × SKIN  ·  Brand Guidelines v2.0  ·  Compliance Edition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  ·  VISUAL IDENTITY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4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LOGO 構成哲學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400" kern="0" dirty="0">
                <a:solidFill>
                  <a:srgbClr val="8B7E74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Philosophy of Quiet Luxury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2011680"/>
            <a:ext cx="2926080" cy="2926080"/>
          </a:xfrm>
          <a:prstGeom prst="ellipse">
            <a:avLst/>
          </a:prstGeom>
          <a:solidFill>
            <a:srgbClr val="C9A99A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74920" y="2468880"/>
            <a:ext cx="2011680" cy="2011680"/>
          </a:xfrm>
          <a:prstGeom prst="ellipse">
            <a:avLst/>
          </a:prstGeom>
          <a:solidFill>
            <a:srgbClr val="C9A99A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1168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</a:t>
            </a:r>
            <a:endParaRPr lang="en-US" sz="10000" dirty="0"/>
          </a:p>
        </p:txBody>
      </p:sp>
      <p:sp>
        <p:nvSpPr>
          <p:cNvPr id="12" name="Shape 10"/>
          <p:cNvSpPr/>
          <p:nvPr/>
        </p:nvSpPr>
        <p:spPr>
          <a:xfrm>
            <a:off x="731520" y="5074920"/>
            <a:ext cx="3383280" cy="0"/>
          </a:xfrm>
          <a:prstGeom prst="line">
            <a:avLst/>
          </a:prstGeom>
          <a:noFill/>
          <a:ln w="6350">
            <a:solidFill>
              <a:srgbClr val="D9D5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166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5532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精緻星型  Star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779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以細線幾何星形取代飽滿五角星，傳遞精緻而非張揚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6108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9A9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Refined, not loud.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0" y="5074920"/>
            <a:ext cx="3383280" cy="0"/>
          </a:xfrm>
          <a:prstGeom prst="line">
            <a:avLst/>
          </a:prstGeom>
          <a:noFill/>
          <a:ln w="6350">
            <a:solidFill>
              <a:srgbClr val="D9D5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5166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～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80560" y="5532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流動弧線  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5779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呼應頭皮與肌膚護理的流動感，象徵精萃導入的輕柔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0" y="6108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9A9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Soft tech, not cold tech.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0" y="5074920"/>
            <a:ext cx="3383280" cy="0"/>
          </a:xfrm>
          <a:prstGeom prst="line">
            <a:avLst/>
          </a:prstGeom>
          <a:noFill/>
          <a:ln w="6350">
            <a:solidFill>
              <a:srgbClr val="D9D5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5166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⬚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0" y="5532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留白張力  Space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5779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Logo 整體輕盈，周圍留白充足，讓標誌自然「呼吸」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0" y="6108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9A9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Let the brand breathe.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STAR SPA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56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04 / 08 —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0"/>
          </a:xfrm>
          <a:prstGeom prst="line">
            <a:avLst/>
          </a:prstGeom>
          <a:noFill/>
          <a:ln w="6350">
            <a:solidFill>
              <a:srgbClr val="D9D5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SCALP CARE × SKIN  ·  Brand Guidelines v2.0  ·  Compliance Edition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  ·  COLOR PALETTE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12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靜謐．水光．溫潤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400" kern="0" dirty="0">
                <a:solidFill>
                  <a:srgbClr val="8B7E74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Palette of Calm, Glow and Warmth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383280" cy="2011680"/>
          </a:xfrm>
          <a:prstGeom prst="rect">
            <a:avLst/>
          </a:prstGeom>
          <a:solidFill>
            <a:srgbClr val="F5F0EA"/>
          </a:solidFill>
          <a:ln w="6350">
            <a:solidFill>
              <a:srgbClr val="D9D5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400" kern="0" dirty="0">
                <a:solidFill>
                  <a:srgbClr val="2C2C2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Misty Ivory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#F5F0EA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霧感米白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736592"/>
            <a:ext cx="548640" cy="0"/>
          </a:xfrm>
          <a:prstGeom prst="line">
            <a:avLst/>
          </a:prstGeom>
          <a:noFill/>
          <a:ln w="9525">
            <a:solidFill>
              <a:srgbClr val="C9A9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800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 · 通透 · 韓系底色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使用場景：空間主背景／貼文底色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2194560"/>
            <a:ext cx="3383280" cy="2011680"/>
          </a:xfrm>
          <a:prstGeom prst="rect">
            <a:avLst/>
          </a:prstGeom>
          <a:solidFill>
            <a:srgbClr val="8B7E74"/>
          </a:solidFill>
          <a:ln w="6350">
            <a:solidFill>
              <a:srgbClr val="D9D5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400" kern="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Warm Taupe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#8B7E74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深茶灰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80560" y="4736592"/>
            <a:ext cx="548640" cy="0"/>
          </a:xfrm>
          <a:prstGeom prst="line">
            <a:avLst/>
          </a:prstGeom>
          <a:noFill/>
          <a:ln w="9525">
            <a:solidFill>
              <a:srgbClr val="C9A9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800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沉穩 · 專業 · 溫潤質感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5120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使用場景：主文字／品牌識別主色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0" y="2194560"/>
            <a:ext cx="3383280" cy="2011680"/>
          </a:xfrm>
          <a:prstGeom prst="rect">
            <a:avLst/>
          </a:prstGeom>
          <a:solidFill>
            <a:srgbClr val="C9A99A"/>
          </a:solidFill>
          <a:ln w="6350">
            <a:solidFill>
              <a:srgbClr val="D9D5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400" kern="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Rose Gold Mist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5820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#C9A99A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玫瑰霧金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0" y="4736592"/>
            <a:ext cx="548640" cy="0"/>
          </a:xfrm>
          <a:prstGeom prst="line">
            <a:avLst/>
          </a:prstGeom>
          <a:noFill/>
          <a:ln w="9525">
            <a:solidFill>
              <a:srgbClr val="C9A9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4800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精緻 · 女性力量 · 高端輕奢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5120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使用場景：點綴光線／CTA 高光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spc="800" kern="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「色彩不說話，但會讓人願意停下腳步。」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STAR SPA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56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05 / 08 —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0"/>
          </a:xfrm>
          <a:prstGeom prst="line">
            <a:avLst/>
          </a:prstGeom>
          <a:noFill/>
          <a:ln w="6350">
            <a:solidFill>
              <a:srgbClr val="D9D5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SCALP CARE × SKIN  ·  Brand Guidelines v2.0  ·  Compliance Edition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  ·  TARGET AUDIENCE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8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三位真實顧客的肖像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400" kern="0" dirty="0">
                <a:solidFill>
                  <a:srgbClr val="8B7E74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Three Personas. One Standard of Care.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657600" cy="4023360"/>
          </a:xfrm>
          <a:prstGeom prst="rect">
            <a:avLst/>
          </a:prstGeom>
          <a:solidFill>
            <a:srgbClr val="FAFAFA"/>
          </a:solidFill>
          <a:ln w="6350">
            <a:solidFill>
              <a:srgbClr val="D9D5D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3657600" cy="45720"/>
          </a:xfrm>
          <a:prstGeom prst="rect">
            <a:avLst/>
          </a:prstGeom>
          <a:solidFill>
            <a:srgbClr val="C9A99A"/>
          </a:solidFill>
          <a:ln w="12700">
            <a:solidFill>
              <a:srgbClr val="C9A9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F5F0EA"/>
          </a:solidFill>
          <a:ln w="6350">
            <a:solidFill>
              <a:srgbClr val="8B7E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質感效率追求者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7157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30–50 歲 · 高社經地位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063240"/>
            <a:ext cx="3108960" cy="0"/>
          </a:xfrm>
          <a:prstGeom prst="line">
            <a:avLst/>
          </a:prstGeom>
          <a:noFill/>
          <a:ln w="6350">
            <a:solidFill>
              <a:srgbClr val="D9D5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54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行為特徵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1520" y="339242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比較儀器規格、研究成分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願為「真正有感」買單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核心痛點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無效保養浪費時間與金錢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3108960" cy="1188720"/>
          </a:xfrm>
          <a:prstGeom prst="rect">
            <a:avLst/>
          </a:prstGeom>
          <a:solidFill>
            <a:srgbClr val="8B7E74"/>
          </a:solidFill>
          <a:ln w="12700">
            <a:solidFill>
              <a:srgbClr val="8B7E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937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 我們的解答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5212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專業設備＋韓國認證精萃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短時間看見氣色提升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43400" y="2148840"/>
            <a:ext cx="3657600" cy="4023360"/>
          </a:xfrm>
          <a:prstGeom prst="rect">
            <a:avLst/>
          </a:prstGeom>
          <a:solidFill>
            <a:srgbClr val="FAFAFA"/>
          </a:solidFill>
          <a:ln w="6350">
            <a:solidFill>
              <a:srgbClr val="D9D5D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43400" y="2148840"/>
            <a:ext cx="3657600" cy="45720"/>
          </a:xfrm>
          <a:prstGeom prst="rect">
            <a:avLst/>
          </a:prstGeom>
          <a:solidFill>
            <a:srgbClr val="C9A99A"/>
          </a:solidFill>
          <a:ln w="12700">
            <a:solidFill>
              <a:srgbClr val="C9A9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423160"/>
            <a:ext cx="502920" cy="502920"/>
          </a:xfrm>
          <a:prstGeom prst="ellipse">
            <a:avLst/>
          </a:prstGeom>
          <a:solidFill>
            <a:srgbClr val="F5F0EA"/>
          </a:solidFill>
          <a:ln w="6350">
            <a:solidFill>
              <a:srgbClr val="8B7E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◑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高壓疲勞都會族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57800" y="27157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28–45 歲 · 都市上班族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3063240"/>
            <a:ext cx="3108960" cy="0"/>
          </a:xfrm>
          <a:prstGeom prst="line">
            <a:avLst/>
          </a:prstGeom>
          <a:noFill/>
          <a:ln w="6350">
            <a:solidFill>
              <a:srgbClr val="D9D5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154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行為特徵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17720" y="339242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忙碌疲憊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渴望一段真正充電的獨處時光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核心痛點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1772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頭皮緊繃與面容黯沉同時來襲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4846320"/>
            <a:ext cx="3108960" cy="1188720"/>
          </a:xfrm>
          <a:prstGeom prst="rect">
            <a:avLst/>
          </a:prstGeom>
          <a:solidFill>
            <a:srgbClr val="8B7E74"/>
          </a:solidFill>
          <a:ln w="12700">
            <a:solidFill>
              <a:srgbClr val="8B7E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937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 我們的解答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5212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頭皮與面部一次護理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即刻感受輕盈煥亮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0" y="2148840"/>
            <a:ext cx="3657600" cy="4023360"/>
          </a:xfrm>
          <a:prstGeom prst="rect">
            <a:avLst/>
          </a:prstGeom>
          <a:solidFill>
            <a:srgbClr val="FAFAFA"/>
          </a:solidFill>
          <a:ln w="6350">
            <a:solidFill>
              <a:srgbClr val="D9D5D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29600" y="2148840"/>
            <a:ext cx="3657600" cy="45720"/>
          </a:xfrm>
          <a:prstGeom prst="rect">
            <a:avLst/>
          </a:prstGeom>
          <a:solidFill>
            <a:srgbClr val="C9A99A"/>
          </a:solidFill>
          <a:ln w="12700">
            <a:solidFill>
              <a:srgbClr val="C9A9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49640" y="2423160"/>
            <a:ext cx="502920" cy="502920"/>
          </a:xfrm>
          <a:prstGeom prst="ellipse">
            <a:avLst/>
          </a:prstGeom>
          <a:solidFill>
            <a:srgbClr val="F5F0EA"/>
          </a:solidFill>
          <a:ln w="6350">
            <a:solidFill>
              <a:srgbClr val="8B7E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◯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4400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熟齡煥顏族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144000" y="27157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35 歲以上 · 關注肌膚質感女性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503920" y="3063240"/>
            <a:ext cx="3108960" cy="0"/>
          </a:xfrm>
          <a:prstGeom prst="line">
            <a:avLst/>
          </a:prstGeom>
          <a:noFill/>
          <a:ln w="6350">
            <a:solidFill>
              <a:srgbClr val="D9D5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3154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行為特徵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503920" y="339242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感覺傳統手技效果遞減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尋找專業升級方案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03920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核心痛點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50392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緊緻度下滑、細紋浮現、自信流失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03920" y="4846320"/>
            <a:ext cx="3108960" cy="1188720"/>
          </a:xfrm>
          <a:prstGeom prst="rect">
            <a:avLst/>
          </a:prstGeom>
          <a:solidFill>
            <a:srgbClr val="8B7E74"/>
          </a:solidFill>
          <a:ln w="12700">
            <a:solidFill>
              <a:srgbClr val="8B7E7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41080" y="4937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 我們的解答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641080" y="5212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韓式養護技術＋高端空間體驗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回到最好的自己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STAR SPA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56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06 / 08 —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0"/>
          </a:xfrm>
          <a:prstGeom prst="line">
            <a:avLst/>
          </a:prstGeom>
          <a:noFill/>
          <a:ln w="6350">
            <a:solidFill>
              <a:srgbClr val="D9D5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SCALP CARE × SKIN  ·  Brand Guidelines v2.0  ·  Compliance Edition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  ·  SERVICE &amp; PRICING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8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從體驗，到專業加購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400" kern="0" dirty="0">
                <a:solidFill>
                  <a:srgbClr val="8B7E74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From First Glow, to Lasting Care.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1247120" cy="1691640"/>
          </a:xfrm>
          <a:prstGeom prst="rect">
            <a:avLst/>
          </a:prstGeom>
          <a:solidFill>
            <a:srgbClr val="FAFAFA"/>
          </a:solidFill>
          <a:ln w="6350">
            <a:solidFill>
              <a:srgbClr val="D9D5D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73152" cy="1691640"/>
          </a:xfrm>
          <a:prstGeom prst="rect">
            <a:avLst/>
          </a:prstGeom>
          <a:solidFill>
            <a:srgbClr val="C9A99A"/>
          </a:solidFill>
          <a:ln w="12700">
            <a:solidFill>
              <a:srgbClr val="C9A9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ENTRY LAYER  ·  體驗引流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K-LAB 專業護理 ─ 會員體驗價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468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NT$ </a:t>
            </a:r>
            <a:pPr algn="r" indent="0" marL="0">
              <a:buNone/>
            </a:pPr>
            <a:r>
              <a:rPr lang="en-US" sz="3400" b="1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999</a:t>
            </a:r>
            <a:pPr algn="r" indent="0" marL="0">
              <a:buNone/>
            </a:pPr>
            <a:r>
              <a:rPr lang="en-US" sz="1000" i="1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   原價 $1,399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K-LAB 深層清潔亮顏護理 （臉部）     ·     K-LAB 玻尿酸靚顏豐盈護理 （臉部）     ·     K-LAB 頭皮甦活護理 （頭皮）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4564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C9A9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➔  讓顧客以合理門檻，感受真正的 K-LAB 技術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spc="6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▼  專業加購  ·  Add-on Upgrade  ▼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11247120" cy="1828800"/>
          </a:xfrm>
          <a:prstGeom prst="rect">
            <a:avLst/>
          </a:prstGeom>
          <a:solidFill>
            <a:srgbClr val="8B7E74"/>
          </a:solidFill>
          <a:ln w="12700">
            <a:solidFill>
              <a:srgbClr val="8B7E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343400"/>
            <a:ext cx="73152" cy="1828800"/>
          </a:xfrm>
          <a:prstGeom prst="rect">
            <a:avLst/>
          </a:prstGeom>
          <a:solidFill>
            <a:srgbClr val="C9A99A"/>
          </a:solidFill>
          <a:ln w="12700">
            <a:solidFill>
              <a:srgbClr val="C9A9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PREMIUM LAYER  ·  高階煥活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754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K-LAB 負離子能量煥活護理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6560" y="4617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NT$ </a:t>
            </a:r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2,499</a:t>
            </a:r>
            <a:pPr algn="r" indent="0" marL="0">
              <a:buNone/>
            </a:pPr>
            <a:r>
              <a:rPr lang="en-US" sz="1000" i="1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   原價 $3,099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257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EDE6D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結合精油舒壓  ×  能量調養  ×  頭皮深層甦活  ─  旗艦體驗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577840"/>
            <a:ext cx="10698480" cy="0"/>
          </a:xfrm>
          <a:prstGeom prst="line">
            <a:avLst/>
          </a:prstGeom>
          <a:noFill/>
          <a:ln w="6350">
            <a:solidFill>
              <a:srgbClr val="C9A9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669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Add-on：RF 能量緊緻 $580    ·    瀑布式精油水療 $800    ·    能量煥活健髮精萃 $1,800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594360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spc="400" kern="0" dirty="0">
                <a:solidFill>
                  <a:srgbClr val="C9A9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「不以便宜取勝，而以質感與技術贏得回訪。」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8B7E7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STAR SPA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56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 07 / 08 —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11247120" cy="0"/>
          </a:xfrm>
          <a:prstGeom prst="line">
            <a:avLst/>
          </a:prstGeom>
          <a:noFill/>
          <a:ln w="6350">
            <a:solidFill>
              <a:srgbClr val="D9D5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SCALP CARE × SKIN  ·  Brand Guidelines v2.0  ·  Compliance Edition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△  COMPLIANCE FIRST  ─  合規為所有文案之最高指導原則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  ·  TONE OF VOICE &amp; COMPLIANCE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600" kern="0" dirty="0">
                <a:solidFill>
                  <a:srgbClr val="2C2C2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文字有溫度，合規有底線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8B7E74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Every word we write must earn both trust and legality.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3566160" cy="3429000"/>
          </a:xfrm>
          <a:prstGeom prst="rect">
            <a:avLst/>
          </a:prstGeom>
          <a:solidFill>
            <a:srgbClr val="8B7E74"/>
          </a:solidFill>
          <a:ln w="12700">
            <a:solidFill>
              <a:srgbClr val="8B7E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 文字角色設定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EDE6D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Tone Persona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731520" cy="0"/>
          </a:xfrm>
          <a:prstGeom prst="line">
            <a:avLst/>
          </a:prstGeom>
          <a:noFill/>
          <a:ln w="9525">
            <a:solidFill>
              <a:srgbClr val="C9A9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11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像是一位「深度了解肌膚養護邏輯的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頂級韓系美學顧問」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專業沉穩  ·  精緻優雅  ·  令人安心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善用核心詞彙：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  K-LAB、韓式生化精萃、能量煥活、水光氣色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描繪「宛如新生、水光透亮」的畫面感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2606040"/>
            <a:ext cx="3703320" cy="41148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2606040"/>
            <a:ext cx="3794760" cy="411480"/>
          </a:xfrm>
          <a:prstGeom prst="rect">
            <a:avLst/>
          </a:prstGeom>
          <a:solidFill>
            <a:srgbClr val="C9A99A"/>
          </a:solidFill>
          <a:ln w="12700">
            <a:solidFill>
              <a:srgbClr val="C9A9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6060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×   DON'T  ─  絕對禁用（醫療／誇大）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01000" y="26060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✓   DO  ─  合規替換（品牌指定用語）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3017520"/>
            <a:ext cx="3703320" cy="320040"/>
          </a:xfrm>
          <a:prstGeom prst="rect">
            <a:avLst/>
          </a:prstGeom>
          <a:solidFill>
            <a:srgbClr val="FAFAF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3017520"/>
            <a:ext cx="3794760" cy="320040"/>
          </a:xfrm>
          <a:prstGeom prst="rect">
            <a:avLst/>
          </a:prstGeom>
          <a:solidFill>
            <a:srgbClr val="FAFAF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B94A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幹細胞 / 外泌體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138160" y="3017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韓式生化養護成分 / 活性精萃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06240" y="3337560"/>
            <a:ext cx="3703320" cy="320040"/>
          </a:xfrm>
          <a:prstGeom prst="rect">
            <a:avLst/>
          </a:prstGeom>
          <a:solidFill>
            <a:srgbClr val="F5F0E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3337560"/>
            <a:ext cx="3794760" cy="320040"/>
          </a:xfrm>
          <a:prstGeom prst="rect">
            <a:avLst/>
          </a:prstGeom>
          <a:solidFill>
            <a:srgbClr val="F5F0E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3337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B94A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實驗室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38160" y="3337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美學中心 / K-LAB 護理中心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657600"/>
            <a:ext cx="3703320" cy="320040"/>
          </a:xfrm>
          <a:prstGeom prst="rect">
            <a:avLst/>
          </a:prstGeom>
          <a:solidFill>
            <a:srgbClr val="FAFAF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3657600"/>
            <a:ext cx="3794760" cy="320040"/>
          </a:xfrm>
          <a:prstGeom prst="rect">
            <a:avLst/>
          </a:prstGeom>
          <a:solidFill>
            <a:srgbClr val="FAFAF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3657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B94A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理療 / 治療 / 改善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38160" y="3657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舒緩護理 / 護理調養 / 煥活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06240" y="3977640"/>
            <a:ext cx="3703320" cy="320040"/>
          </a:xfrm>
          <a:prstGeom prst="rect">
            <a:avLst/>
          </a:prstGeom>
          <a:solidFill>
            <a:srgbClr val="F5F0E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3977640"/>
            <a:ext cx="3794760" cy="320040"/>
          </a:xfrm>
          <a:prstGeom prst="rect">
            <a:avLst/>
          </a:prstGeom>
          <a:solidFill>
            <a:srgbClr val="F5F0E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3977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B94A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醫學 / 再生醫學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38160" y="3977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韓式生化技術 / 專業護理技術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06240" y="4297680"/>
            <a:ext cx="3703320" cy="320040"/>
          </a:xfrm>
          <a:prstGeom prst="rect">
            <a:avLst/>
          </a:prstGeom>
          <a:solidFill>
            <a:srgbClr val="FAFAF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01000" y="4297680"/>
            <a:ext cx="3794760" cy="320040"/>
          </a:xfrm>
          <a:prstGeom prst="rect">
            <a:avLst/>
          </a:prstGeom>
          <a:solidFill>
            <a:srgbClr val="FAFAF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42976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B94A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修復 / 深層重啟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138160" y="42976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養護 / 煥亮 / 能量煥新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06240" y="4617720"/>
            <a:ext cx="3703320" cy="320040"/>
          </a:xfrm>
          <a:prstGeom prst="rect">
            <a:avLst/>
          </a:prstGeom>
          <a:solidFill>
            <a:srgbClr val="F5F0E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4617720"/>
            <a:ext cx="3794760" cy="320040"/>
          </a:xfrm>
          <a:prstGeom prst="rect">
            <a:avLst/>
          </a:prstGeom>
          <a:solidFill>
            <a:srgbClr val="F5F0E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3400" y="4617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B94A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毛囊根源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38160" y="4617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頭皮根部養護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206240" y="4937760"/>
            <a:ext cx="3703320" cy="320040"/>
          </a:xfrm>
          <a:prstGeom prst="rect">
            <a:avLst/>
          </a:prstGeom>
          <a:solidFill>
            <a:srgbClr val="FAFAF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01000" y="4937760"/>
            <a:ext cx="3794760" cy="320040"/>
          </a:xfrm>
          <a:prstGeom prst="rect">
            <a:avLst/>
          </a:prstGeom>
          <a:solidFill>
            <a:srgbClr val="FAFAF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3400" y="4937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B94A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「根治落髮、消除皺紋、完全逆齡」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138160" y="4937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「頭皮養護、水光氣色、煥亮提升」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206240" y="5257800"/>
            <a:ext cx="3703320" cy="320040"/>
          </a:xfrm>
          <a:prstGeom prst="rect">
            <a:avLst/>
          </a:prstGeom>
          <a:solidFill>
            <a:srgbClr val="F5F0E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01000" y="5257800"/>
            <a:ext cx="3794760" cy="320040"/>
          </a:xfrm>
          <a:prstGeom prst="rect">
            <a:avLst/>
          </a:prstGeom>
          <a:solidFill>
            <a:srgbClr val="F5F0EA"/>
          </a:solidFill>
          <a:ln w="3175">
            <a:solidFill>
              <a:srgbClr val="D9D5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3400" y="5257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B94A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「做一送一、今天不做明天後悔」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138160" y="52578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「妳上次好好照顧自己的頭皮，是什麼時候？」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spc="400" kern="0" dirty="0">
                <a:solidFill>
                  <a:srgbClr val="2C2C2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文案上架 SOP：①  逐字比對禁用詞彙表    ·    ②  確認為體感描述而非療效聲稱    ·    ③  杜絕所有絕對性形容詞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9144000" cy="9144000"/>
          </a:xfrm>
          <a:prstGeom prst="ellipse">
            <a:avLst/>
          </a:prstGeom>
          <a:solidFill>
            <a:srgbClr val="8B7E74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828800"/>
            <a:ext cx="9144000" cy="9144000"/>
          </a:xfrm>
          <a:prstGeom prst="ellipse">
            <a:avLst/>
          </a:prstGeom>
          <a:solidFill>
            <a:srgbClr val="C9A9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800" kern="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STAR SPA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C9A99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14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不只是護理中心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18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而是一座  美業孵育旗艦平台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300" kern="0" dirty="0">
                <a:solidFill>
                  <a:srgbClr val="C9A9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Beyond a SPA — A Flagship Incubator for the Next Generation of Beauty Talents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4023360"/>
            <a:ext cx="8503920" cy="0"/>
          </a:xfrm>
          <a:prstGeom prst="line">
            <a:avLst/>
          </a:prstGeom>
          <a:noFill/>
          <a:ln w="6350">
            <a:solidFill>
              <a:srgbClr val="C9A9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7632" y="3931920"/>
            <a:ext cx="201168" cy="201168"/>
          </a:xfrm>
          <a:prstGeom prst="ellipse">
            <a:avLst/>
          </a:prstGeom>
          <a:solidFill>
            <a:srgbClr val="C9A99A"/>
          </a:solidFill>
          <a:ln w="12700">
            <a:solidFill>
              <a:srgbClr val="C9A9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人才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53612" y="3931920"/>
            <a:ext cx="201168" cy="201168"/>
          </a:xfrm>
          <a:prstGeom prst="ellipse">
            <a:avLst/>
          </a:prstGeom>
          <a:solidFill>
            <a:srgbClr val="C9A99A"/>
          </a:solidFill>
          <a:ln w="12700">
            <a:solidFill>
              <a:srgbClr val="C9A9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4972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技術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79592" y="3931920"/>
            <a:ext cx="201168" cy="201168"/>
          </a:xfrm>
          <a:prstGeom prst="ellipse">
            <a:avLst/>
          </a:prstGeom>
          <a:solidFill>
            <a:srgbClr val="C9A99A"/>
          </a:solidFill>
          <a:ln w="12700">
            <a:solidFill>
              <a:srgbClr val="C9A9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系統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5572" y="3931920"/>
            <a:ext cx="201168" cy="201168"/>
          </a:xfrm>
          <a:prstGeom prst="ellipse">
            <a:avLst/>
          </a:prstGeom>
          <a:solidFill>
            <a:srgbClr val="C9A99A"/>
          </a:solidFill>
          <a:ln w="12700">
            <a:solidFill>
              <a:srgbClr val="C9A9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6932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品牌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131552" y="3931920"/>
            <a:ext cx="201168" cy="201168"/>
          </a:xfrm>
          <a:prstGeom prst="ellipse">
            <a:avLst/>
          </a:prstGeom>
          <a:solidFill>
            <a:srgbClr val="C9A99A"/>
          </a:solidFill>
          <a:ln w="12700">
            <a:solidFill>
              <a:srgbClr val="C9A9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2912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✦ 旗艦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66360" y="4754880"/>
            <a:ext cx="1828800" cy="0"/>
          </a:xfrm>
          <a:prstGeom prst="line">
            <a:avLst/>
          </a:prstGeom>
          <a:noFill/>
          <a:ln w="9525">
            <a:solidFill>
              <a:srgbClr val="C9A9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92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0" kern="0" dirty="0">
                <a:solidFill>
                  <a:srgbClr val="C9A9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✦  BRAND PROMISE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5212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spc="4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「在 STAR SPA，每一次護理，都是科技與美學的證言；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spc="400" kern="0" dirty="0">
                <a:solidFill>
                  <a:srgbClr val="FFFFF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每一位夥伴，都是韓式美學在台灣落地的星光。」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300" kern="0" dirty="0">
                <a:solidFill>
                  <a:srgbClr val="C9A9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At STAR SPA, every treatment is a testament of tech-aesthetics — and every partner, a star.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spc="400" kern="0" dirty="0">
                <a:solidFill>
                  <a:srgbClr val="8B7E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STAR SPA  ·  SCALP CARE × SKIN  ·  Korean Tech-Aesthetics &amp; Bioactive Beauty  · 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 SPA — Brand Identity &amp; Compliance Deck</dc:title>
  <dc:subject>PptxGenJS Presentation</dc:subject>
  <dc:creator>STAR SPA</dc:creator>
  <cp:lastModifiedBy>STAR SPA</cp:lastModifiedBy>
  <cp:revision>1</cp:revision>
  <dcterms:created xsi:type="dcterms:W3CDTF">2026-04-22T19:39:28Z</dcterms:created>
  <dcterms:modified xsi:type="dcterms:W3CDTF">2026-04-22T19:39:28Z</dcterms:modified>
</cp:coreProperties>
</file>