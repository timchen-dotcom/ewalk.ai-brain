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0"/>
            <a:ext cx="36576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99A"/>
                </a:solidFill>
                <a:latin typeface="Calibri"/>
              </a:rPr>
              <a:t>BRAND GUIDELINES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9A99A"/>
                </a:solidFill>
                <a:latin typeface="Calibri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146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9A99A"/>
                </a:solidFill>
                <a:latin typeface="Georgia"/>
              </a:rPr>
              <a:t>SPA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2286000" cy="32004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D5D0"/>
                </a:solidFill>
                <a:latin typeface="Calibri"/>
              </a:rPr>
              <a:t>SCALP CARE  ×  SKIN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82296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99A"/>
                </a:solidFill>
                <a:latin typeface="Georgia"/>
              </a:rPr>
              <a:t>韓式 K-LAB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2344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頭皮肌膚
美學中心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88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5D0"/>
                </a:solidFill>
                <a:latin typeface="Calibri"/>
              </a:rPr>
              <a:t>Korean Tech-Aesthetics &amp; Bioactive Beauty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3291840"/>
            <a:ext cx="530352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429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7E74"/>
                </a:solidFill>
                <a:latin typeface="Calibri"/>
              </a:rPr>
              <a:t>v2.0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2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873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99A"/>
                </a:solidFill>
                <a:latin typeface="Calibri"/>
              </a:rPr>
              <a:t>@starspa.wellness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品牌基本資訊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Brand Info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4251960" cy="16916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4864" cy="169164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52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7E74"/>
                </a:solidFill>
                <a:latin typeface="Calibri"/>
              </a:rPr>
              <a:t>品牌名稱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544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Georgia"/>
              </a:rPr>
              <a:t>STAR SPA
韓式K-LAB
頭皮肌膚美學中心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143000"/>
            <a:ext cx="4251960" cy="16916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143000"/>
            <a:ext cx="54864" cy="169164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252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7E74"/>
                </a:solidFill>
                <a:latin typeface="Calibri"/>
              </a:rPr>
              <a:t>品牌標語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Georgia"/>
              </a:rPr>
              <a:t>SCALP CARE
×  SKIN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017520"/>
            <a:ext cx="4251960" cy="16916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017520"/>
            <a:ext cx="54864" cy="169164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1272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7E74"/>
                </a:solidFill>
                <a:latin typeface="Calibri"/>
              </a:rPr>
              <a:t>IG 帳號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290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Georgia"/>
              </a:rPr>
              <a:t>@starspa.wellness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17520"/>
            <a:ext cx="4251960" cy="16916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17520"/>
            <a:ext cx="54864" cy="169164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7E74"/>
                </a:solidFill>
                <a:latin typeface="Calibri"/>
              </a:rPr>
              <a:t>核心服務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4290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Georgia"/>
              </a:rPr>
              <a:t>頭皮舒緩護理
臉部深層清潔
韓式生化精萃導入
人才培訓孵育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品牌定位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Brand Positioning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8686800" cy="777240"/>
          </a:xfrm>
          <a:prstGeom prst="rect">
            <a:avLst/>
          </a:prstGeom>
          <a:solidFill>
            <a:srgbClr val="3A3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73152" cy="77724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07008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「韓式科技美學質感中心」  Korean Tech-Aesthetics &amp; Bioactive Beauty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2743200" cy="14630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17627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E74"/>
                </a:solidFill>
                <a:latin typeface="Calibri"/>
              </a:rPr>
              <a:t>✦  科技導入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5786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Calibri"/>
              </a:rPr>
              <a:t>以韓國引進的專業設備與韓式生化養護精萃為基礎，每一個護理步驟都有專業邏輯支撐。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057400"/>
            <a:ext cx="2743200" cy="14630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217627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E74"/>
                </a:solidFill>
                <a:latin typeface="Calibri"/>
              </a:rPr>
              <a:t>✦  極致煥顏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5786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Calibri"/>
              </a:rPr>
              <a:t>從頭皮到臉部的全方位肌膚養護管理，帶來真實可見的煥亮質感與光澤。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057400"/>
            <a:ext cx="2743200" cy="146304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217627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E74"/>
                </a:solidFill>
                <a:latin typeface="Calibri"/>
              </a:rPr>
              <a:t>✦  韓系美學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57860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Calibri"/>
              </a:rPr>
              <a:t>引進韓式美學的極簡觀點與嚴謹服務標準，打造高端科技 SPA 新典範。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703320"/>
            <a:ext cx="8686800" cy="118872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703320"/>
            <a:ext cx="54864" cy="118872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7E74"/>
                </a:solidFill>
                <a:latin typeface="Calibri"/>
              </a:rPr>
              <a:t>電梯簡報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4164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2C2C"/>
                </a:solidFill>
                <a:latin typeface="Georgia"/>
              </a:rPr>
              <a:t>「STAR SPA 是一家結合智慧儀器設備與韓式生化養護技術的高端美學中心。我們透過專業的頭皮與肌膚雙向護理，為顧客提供精準、高效且充滿韓系質感的煥顏體驗。」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目標受眾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Target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761488" cy="379476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2761488" cy="502920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247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99A"/>
                </a:solidFill>
                <a:latin typeface="Calibri"/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Georgia"/>
              </a:rPr>
              <a:t>質感效率
追求者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359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7E74"/>
                </a:solidFill>
                <a:latin typeface="Calibri"/>
              </a:rPr>
              <a:t>30–50歲 · 高社經地位男女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2697480"/>
            <a:ext cx="2377440" cy="32004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816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相信科學儀器與生化精萃成分的護理效果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1821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主動比較設備技術規格與韓國品牌認證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" y="3547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說服關鍵：專業設備介紹 + 護理前後對比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72968" y="1097280"/>
            <a:ext cx="2761488" cy="379476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2968" y="1097280"/>
            <a:ext cx="2761488" cy="502920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1247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99A"/>
                </a:solidFill>
                <a:latin typeface="Calibri"/>
              </a:rPr>
              <a:t>AUDIENCE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Georgia"/>
              </a:rPr>
              <a:t>高壓疲勞
都會族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359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7E74"/>
                </a:solidFill>
                <a:latin typeface="Calibri"/>
              </a:rPr>
              <a:t>28–45歲 · 都市上班族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697480"/>
            <a:ext cx="2377440" cy="32004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816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頭皮緊繃、面色黯沉，渴望高效充電時光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1821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一次護理同時解決頭皮與面部氣色問題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547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說服關鍵：即效體感描述 + 顧客真實心得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17336" y="1097280"/>
            <a:ext cx="2761488" cy="379476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17336" y="1097280"/>
            <a:ext cx="2761488" cy="502920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1124712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6" y="11887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99A"/>
                </a:solidFill>
                <a:latin typeface="Calibri"/>
              </a:rPr>
              <a:t>AUDIENCE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16916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2C2C"/>
                </a:solidFill>
                <a:latin typeface="Georgia"/>
              </a:rPr>
              <a:t>熟齡煥顏族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2359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B7E74"/>
                </a:solidFill>
                <a:latin typeface="Calibri"/>
              </a:rPr>
              <a:t>35歲以上 · 女性客群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1928" y="2697480"/>
            <a:ext cx="2377440" cy="32004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28163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對傳統美容院效果不再滿足，尋求護理升級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31821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重視口碑、服務細節與高端空間體驗感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354787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· 說服關鍵：韓式技術差異化 + 護理成果呈現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品牌語氣 &amp; 廣告合規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Tone of Voice &amp; Legal Compliance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4160520" cy="411480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品牌文字角色設定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08760"/>
            <a:ext cx="4160520" cy="640080"/>
          </a:xfrm>
          <a:prstGeom prst="rect">
            <a:avLst/>
          </a:prstGeom>
          <a:solidFill>
            <a:srgbClr val="EC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72768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2C2C"/>
                </a:solidFill>
                <a:latin typeface="Georgia"/>
              </a:rPr>
              <a:t>「深度了解肌膚養護邏輯的
頂級韓系美學顧問」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042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7E74"/>
                </a:solidFill>
                <a:latin typeface="Calibri"/>
              </a:rPr>
              <a:t>✅ 推薦語彙與風格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15184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·  K-LAB、韓式生化精萃、能量煥活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·  負離子舒緩、頭皮養護、水光氣色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73552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·  文字乾淨俐落，專業但有溫度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602736"/>
            <a:ext cx="3840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·  體感描述優先，避免療效聲稱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097280"/>
            <a:ext cx="4297680" cy="411480"/>
          </a:xfrm>
          <a:prstGeom prst="rect">
            <a:avLst/>
          </a:prstGeom>
          <a:solidFill>
            <a:srgbClr val="8B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11430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⚠️  廣告違規詞彙替換表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536192"/>
            <a:ext cx="4297680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6093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3330"/>
                </a:solidFill>
                <a:latin typeface="Calibri"/>
              </a:rPr>
              <a:t>禁用詞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093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3330"/>
                </a:solidFill>
                <a:latin typeface="Calibri"/>
              </a:rPr>
              <a:t>合規替換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36192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1920240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1993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幹細胞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993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韓式生化養護成分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920240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2304288"/>
            <a:ext cx="4297680" cy="38404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外泌體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韓式生化精萃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304288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2688336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761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實驗室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7614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美學中心 / K-LAB護理中心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688336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3072384"/>
            <a:ext cx="4297680" cy="38404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1455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理療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145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舒緩護理 / 專業養護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072384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17720" y="3456432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5295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修復 / 治療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3529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養護 / 煥亮 / 調理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456432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17720" y="3840480"/>
            <a:ext cx="4297680" cy="38404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3913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再生醫學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9136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韓式生化技術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840480"/>
            <a:ext cx="27432" cy="384048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視覺規範 — 色彩系統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Visual Guidelines · Color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241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7E74"/>
                </a:solidFill>
                <a:latin typeface="Calibri"/>
              </a:rPr>
              <a:t>質感暖調  WARM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02412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BFC0"/>
                </a:solidFill>
                <a:latin typeface="Calibri"/>
              </a:rPr>
              <a:t>溫潤科技  TECH ACCENT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07608" y="1298448"/>
            <a:ext cx="36576" cy="141732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298448"/>
            <a:ext cx="900684" cy="1417320"/>
          </a:xfrm>
          <a:prstGeom prst="rect">
            <a:avLst/>
          </a:prstGeom>
          <a:solidFill>
            <a:srgbClr val="7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298448"/>
            <a:ext cx="900684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Calibri"/>
              </a:rPr>
              <a:t>錨點色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暖灰棕
Warm Stone
#7A6E68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97864" y="1298448"/>
            <a:ext cx="900684" cy="1417320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97864" y="1298448"/>
            <a:ext cx="900684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Calibri"/>
              </a:rPr>
              <a:t>品牌色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深茶灰
Warm Taupe
#8B7E74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298448"/>
            <a:ext cx="900684" cy="141732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8" y="1298448"/>
            <a:ext cx="900684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03704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Calibri"/>
              </a:rPr>
              <a:t>橋接色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21992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玫瑰奶膚
Rose Nude
#C9A99A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2" y="1298448"/>
            <a:ext cx="900684" cy="1417320"/>
          </a:xfrm>
          <a:prstGeom prst="rect">
            <a:avLst/>
          </a:prstGeom>
          <a:solidFill>
            <a:srgbClr val="DDB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36392" y="1298448"/>
            <a:ext cx="9006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72968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8B7E74"/>
                </a:solidFill>
                <a:latin typeface="Calibri"/>
              </a:rPr>
              <a:t>過渡色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C2C2C"/>
                </a:solidFill>
                <a:latin typeface="Calibri"/>
              </a:rPr>
              <a:t>桃杏膚
Peach Nude
#DDB99F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5656" y="1298448"/>
            <a:ext cx="900684" cy="141732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05656" y="1298448"/>
            <a:ext cx="9006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42232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8B7E74"/>
                </a:solidFill>
                <a:latin typeface="Calibri"/>
              </a:rPr>
              <a:t>霧底色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B7E74"/>
                </a:solidFill>
                <a:latin typeface="Calibri"/>
              </a:rPr>
              <a:t>霧感米白
Misty Ivory
#F5F0EA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1298448"/>
            <a:ext cx="900684" cy="14173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74920" y="1298448"/>
            <a:ext cx="9006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11496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8B7E74"/>
                </a:solidFill>
                <a:latin typeface="Calibri"/>
              </a:rPr>
              <a:t>背景色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B7E74"/>
                </a:solidFill>
                <a:latin typeface="Calibri"/>
              </a:rPr>
              <a:t>大理石白
Marble White
#FAFAFA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44184" y="1298448"/>
            <a:ext cx="900684" cy="1417320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44184" y="1298448"/>
            <a:ext cx="9006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8B7E74"/>
                </a:solidFill>
                <a:latin typeface="Calibri"/>
              </a:rPr>
              <a:t>輔助色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8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B7E74"/>
                </a:solidFill>
                <a:latin typeface="Calibri"/>
              </a:rPr>
              <a:t>淺霧灰
Soft Gray
#D9D5D0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13448" y="1298448"/>
            <a:ext cx="900684" cy="1417320"/>
          </a:xfrm>
          <a:prstGeom prst="rect">
            <a:avLst/>
          </a:prstGeom>
          <a:solidFill>
            <a:srgbClr val="A8D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13448" y="1298448"/>
            <a:ext cx="9006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0024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8B7E74"/>
                </a:solidFill>
                <a:latin typeface="Calibri"/>
              </a:rPr>
              <a:t>科技感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8312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2C2C2C"/>
                </a:solidFill>
                <a:latin typeface="Calibri"/>
              </a:rPr>
              <a:t>薄荷霧青
Mint Mist
#A8D4D0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82712" y="1298448"/>
            <a:ext cx="900684" cy="1417320"/>
          </a:xfrm>
          <a:prstGeom prst="rect">
            <a:avLst/>
          </a:prstGeom>
          <a:solidFill>
            <a:srgbClr val="5BB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82712" y="1298448"/>
            <a:ext cx="900684" cy="2011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19288" y="1325880"/>
            <a:ext cx="8458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>
                <a:solidFill>
                  <a:srgbClr val="FFFFFF"/>
                </a:solidFill>
                <a:latin typeface="Calibri"/>
              </a:rPr>
              <a:t>能量色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7576" y="1554480"/>
            <a:ext cx="8275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清透水藍
Aqua Clear
#5BBFC0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2862072"/>
            <a:ext cx="8686800" cy="274320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2898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7E74"/>
                </a:solidFill>
                <a:latin typeface="Calibri"/>
              </a:rPr>
              <a:t>品牌漸層系統  GRADIENT SYSTEM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82112"/>
            <a:ext cx="969264" cy="292608"/>
          </a:xfrm>
          <a:prstGeom prst="rect">
            <a:avLst/>
          </a:prstGeom>
          <a:solidFill>
            <a:srgbClr val="7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97864" y="3182112"/>
            <a:ext cx="969264" cy="292608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67128" y="3182112"/>
            <a:ext cx="969264" cy="29260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36392" y="3182112"/>
            <a:ext cx="969264" cy="292608"/>
          </a:xfrm>
          <a:prstGeom prst="rect">
            <a:avLst/>
          </a:prstGeom>
          <a:solidFill>
            <a:srgbClr val="DDB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" y="34930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A  質感暖調漸層  —  主視覺 / Logo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24528" y="3182112"/>
            <a:ext cx="713232" cy="292608"/>
          </a:xfrm>
          <a:prstGeom prst="rect">
            <a:avLst/>
          </a:prstGeom>
          <a:solidFill>
            <a:srgbClr val="7A6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37760" y="3182112"/>
            <a:ext cx="713232" cy="29260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50992" y="3182112"/>
            <a:ext cx="713232" cy="292608"/>
          </a:xfrm>
          <a:prstGeom prst="rect">
            <a:avLst/>
          </a:prstGeom>
          <a:solidFill>
            <a:srgbClr val="DDB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64224" y="3182112"/>
            <a:ext cx="713232" cy="29260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77456" y="3182112"/>
            <a:ext cx="713232" cy="292608"/>
          </a:xfrm>
          <a:prstGeom prst="rect">
            <a:avLst/>
          </a:prstGeom>
          <a:solidFill>
            <a:srgbClr val="A8D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90688" y="3182112"/>
            <a:ext cx="713232" cy="292608"/>
          </a:xfrm>
          <a:prstGeom prst="rect">
            <a:avLst/>
          </a:prstGeom>
          <a:solidFill>
            <a:srgbClr val="5BB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24528" y="34930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B  溫潤科技全譜漸層  —  品牌完整旅程 / 特殊活動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3794760"/>
            <a:ext cx="8686800" cy="73152"/>
          </a:xfrm>
          <a:prstGeom prst="rect">
            <a:avLst/>
          </a:prstGeom>
          <a:solidFill>
            <a:srgbClr val="D9D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6032" y="3913632"/>
            <a:ext cx="1627632" cy="219456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" y="39319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7E74"/>
                </a:solidFill>
                <a:latin typeface="Calibri"/>
              </a:rPr>
              <a:t>韓系極簡美學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20824" y="3913632"/>
            <a:ext cx="1627632" cy="219456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93976" y="39319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7E74"/>
                </a:solidFill>
                <a:latin typeface="Calibri"/>
              </a:rPr>
              <a:t>科技儀器感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85615" y="3913632"/>
            <a:ext cx="1627632" cy="219456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58768" y="39319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7E74"/>
                </a:solidFill>
                <a:latin typeface="Calibri"/>
              </a:rPr>
              <a:t>通透水感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3913632"/>
            <a:ext cx="1627632" cy="219456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23560" y="39319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BFC0"/>
                </a:solidFill>
                <a:latin typeface="Calibri"/>
              </a:rPr>
              <a:t>薄荷科技點綴 ≤ 15%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3913632"/>
            <a:ext cx="1627632" cy="219456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88352" y="393192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BBFC0"/>
                </a:solidFill>
                <a:latin typeface="Calibri"/>
              </a:rPr>
              <a:t>K-LAB 系列專屬水藍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" y="4206240"/>
            <a:ext cx="8686800" cy="685800"/>
          </a:xfrm>
          <a:prstGeom prst="rect">
            <a:avLst/>
          </a:prstGeom>
          <a:solidFill>
            <a:srgbClr val="EC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8600" y="4206240"/>
            <a:ext cx="54864" cy="6858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424281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7E74"/>
                </a:solidFill>
                <a:latin typeface="Calibri"/>
              </a:rPr>
              <a:t>攝影規範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4498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· 柔和自然光或暖白光，避免強烈陰影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78608" y="4498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· 白色/米白背景，突出設備與安瓶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45736" y="4498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· Before / After 強調水光感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12864" y="44988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· 捕捉顧客放鬆表情與設計師細膩手法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核心服務與價目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Core Services &amp; Pricing  ·  主打會員制高價值護理體驗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160520" cy="384048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97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臉部肌膚養護  Facial Skin Care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63040"/>
            <a:ext cx="416052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179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K-LAB 深層清潔亮顏護理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5179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1790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$1,399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810512"/>
            <a:ext cx="4160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8653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K-LAB 玻尿酸靚顏豐盈護理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653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653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$1,399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57984"/>
            <a:ext cx="416052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128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加值｜能量光儀護理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2128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2128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505456"/>
            <a:ext cx="4160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560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加值｜RF 能量緊緻拉提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5603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$580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852928"/>
            <a:ext cx="416052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907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加值｜RF 能量眼周舒緩護理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9077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907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051560"/>
            <a:ext cx="4297680" cy="38404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頭皮與能量養護  Scalp &amp; Energy Care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463040"/>
            <a:ext cx="429768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5179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K-LAB 頭皮甦活護理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15179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151790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$1,399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810512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186537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K-LAB 負離子能量煥活護理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18653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$2,499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186537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$3,099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157984"/>
            <a:ext cx="429768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22128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加值｜頭皮前導淨化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2128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$1,000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22128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505456"/>
            <a:ext cx="4297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6592" y="25603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加值｜瀑布式精油水療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5603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8" y="256032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2852928"/>
            <a:ext cx="4297680" cy="347472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36592" y="290779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加值｜能量煥活健髮精萃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9077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7E74"/>
                </a:solidFill>
                <a:latin typeface="Calibri"/>
              </a:rPr>
              <a:t>$1,800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8" y="29077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9D5D0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1097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會員價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10972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原價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1097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會員價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8" y="1097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原價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224528"/>
            <a:ext cx="8686800" cy="685800"/>
          </a:xfrm>
          <a:prstGeom prst="rect">
            <a:avLst/>
          </a:prstGeom>
          <a:solidFill>
            <a:srgbClr val="EC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4224528"/>
            <a:ext cx="54864" cy="6858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279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7E74"/>
                </a:solidFill>
                <a:latin typeface="Calibri"/>
              </a:rPr>
              <a:t>★  會員制說明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4535424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所有課程主打會員制體驗，搭配加值項目可靈活組合，達到最高性價比的個人化護理方案。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828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D5D0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01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2C2C"/>
                </a:solidFill>
                <a:latin typeface="Georgia"/>
              </a:rPr>
              <a:t>內容策略 &amp; 品牌禁區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58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7E74"/>
                </a:solidFill>
                <a:latin typeface="Calibri"/>
              </a:rPr>
              <a:t>Content Strategy &amp; Brand Don'ts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86868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4160520" cy="347472"/>
          </a:xfrm>
          <a:prstGeom prst="rect">
            <a:avLst/>
          </a:prstGeom>
          <a:solidFill>
            <a:srgbClr val="8B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15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IG 內容柱  Content Pillars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63040"/>
            <a:ext cx="4160520" cy="38404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463040"/>
            <a:ext cx="640080" cy="38404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5361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50876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Calibri"/>
              </a:rPr>
              <a:t>護理作品展示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664208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儀器操作、精萃安瓶、Before/After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847088"/>
            <a:ext cx="4160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1847088"/>
            <a:ext cx="640080" cy="38404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19202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892807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Calibri"/>
              </a:rPr>
              <a:t>韓系美學生活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048256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科技護理理念、美學日常、品牌故事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31136"/>
            <a:ext cx="4160520" cy="384048"/>
          </a:xfrm>
          <a:prstGeom prst="rect">
            <a:avLst/>
          </a:prstGeom>
          <a:solidFill>
            <a:srgbClr val="F5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231136"/>
            <a:ext cx="640080" cy="38404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3042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276856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Calibri"/>
              </a:rPr>
              <a:t>品牌專業內容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432304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成分科普、護理邏輯說明、Q&amp;A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615184"/>
            <a:ext cx="4160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615184"/>
            <a:ext cx="640080" cy="384048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26883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2660904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C2C"/>
                </a:solidFill>
                <a:latin typeface="Calibri"/>
              </a:rPr>
              <a:t>顧客互動關係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816352"/>
            <a:ext cx="3337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B7E74"/>
                </a:solidFill>
                <a:latin typeface="Calibri"/>
              </a:rPr>
              <a:t>真實心得、投票互動、暖心回應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1078992"/>
            <a:ext cx="4297680" cy="347472"/>
          </a:xfrm>
          <a:prstGeom prst="rect">
            <a:avLst/>
          </a:prstGeom>
          <a:solidFill>
            <a:srgbClr val="7A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11155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❌  品牌禁區  Brand Don'ts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1463040"/>
            <a:ext cx="4297680" cy="38404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15544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不以「便宜/特價」為主要賣點，堅守質感定位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17720" y="1847088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19385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不使用無法客觀呈現的護理效果聲稱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231136"/>
            <a:ext cx="4297680" cy="38404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23225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不使用幹細胞、外泌體、理療、治療等違規詞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2615184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36592" y="27066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不用浮誇形容：神奇、史上最強、百分百有效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2999232"/>
            <a:ext cx="4297680" cy="38404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30906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不發布飽和度過高或低品質的護理照片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7720" y="3383280"/>
            <a:ext cx="4297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34747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不模仿傳統 SPA 或美容院的叫賣推銷語氣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3767328"/>
            <a:ext cx="4297680" cy="384048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36592" y="385876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C2C2C"/>
                </a:solidFill>
                <a:latin typeface="Calibri"/>
              </a:rPr>
              <a:t>不做比較性聲稱：「超越醫美/診所級」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8229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C9A99A"/>
                </a:solidFill>
                <a:latin typeface="Calibri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STAR 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788920"/>
            <a:ext cx="4572000" cy="32004"/>
          </a:xfrm>
          <a:prstGeom prst="rect">
            <a:avLst/>
          </a:prstGeom>
          <a:solidFill>
            <a:srgbClr val="C9A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A99A"/>
                </a:solidFill>
                <a:latin typeface="Georgia"/>
              </a:rPr>
              <a:t>韓式科技美學質感中心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D5D0"/>
                </a:solidFill>
                <a:latin typeface="Calibri"/>
              </a:rPr>
              <a:t>SCALP CARE  ×  SKIN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7E74"/>
                </a:solidFill>
                <a:latin typeface="Calibri"/>
              </a:rPr>
              <a:t>@starspa.wellness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