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076895" y="-1371600"/>
            <a:ext cx="5486400" cy="45720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PROPOSAL  · 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28800" cy="1828800"/>
          </a:xfrm>
          <a:prstGeom prst="rect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3702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待置入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韓食日常鍋物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749808" y="4617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 Hotpot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韓食靈魂 × 台式火鍋骨架 — 把韓食變成日常剛需的連鎖鍋物品牌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5989320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6080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品牌顧問 × 全案操盤提案  ·  Prepared for Investor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 ·  目錄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投資人閱讀路徑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品牌故事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01168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1031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1208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核心理念與價值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01168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1031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0525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視覺識別系統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5256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7160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戰略定位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3593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06324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306324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1208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產品與定價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12080" y="3593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Pricing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06324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06324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15468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0525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菜單架構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52560" y="3593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Architecture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11480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206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137160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空間與體驗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160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&amp; Experience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411480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7680" y="411480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4206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521208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行銷爆發力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1208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Virality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411480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411480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21040" y="4206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9052560" y="4251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/ KOL 方案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52560" y="4645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/ KOL Strategy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16636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16636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257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1371600" y="5303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財務試算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371600" y="5696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297680" y="516636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97680" y="516636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80560" y="5257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59" name="Text 57"/>
          <p:cNvSpPr/>
          <p:nvPr/>
        </p:nvSpPr>
        <p:spPr>
          <a:xfrm>
            <a:off x="5212080" y="5303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加盟擴張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212080" y="5696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Plan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38160" y="5166360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138160" y="5166360"/>
            <a:ext cx="73152" cy="9601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21040" y="52578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9052560" y="5303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顧問收費方案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052560" y="56967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Structure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BRAND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為什麼是「韓食日常鍋物」？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市場觀察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 22–35 歲都會世代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正缺一個「日常吃得起的韓食」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傳統韓式燒肉：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$600–1200，昏暗、油煙，聚餐才去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平價台式小火鍋：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$200–300，風味平淡、缺儀式感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韓式湯飯小店：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衛生感弱、難以規模化複製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532120" cy="41148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我們的答案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7432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韓食靈魂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台式火鍋骨架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492240" y="47091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把韓食風味的「差異化優勢」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與平價火鍋的「高效營運骨架」合一，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重新定義年輕世代的日常外食。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Story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MANIFESTO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品牌宣言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「讓韓食，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回到餐桌的日常。」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875520" y="18288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dirty="0">
                <a:solidFill>
                  <a:srgbClr val="F37021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800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2651760" cy="1280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價格日常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主食 $110 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吃得起的韓式鍋物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4572000"/>
            <a:ext cx="2651760" cy="1280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風味正統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5120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核心醬料、泡菜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風味不妥協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4572000"/>
            <a:ext cx="2651760" cy="1280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空間高級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5120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明亮輕工業風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拒絕昏暗油膩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98280" y="4572000"/>
            <a:ext cx="2651760" cy="128016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效率專業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98280" y="5120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點餐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進店到上桌 ≤ 8 分鐘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Manifesto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CORE VALUES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品牌核心理念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749040" cy="3200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日常剛需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高頻、平價、可每週造訪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011680"/>
            <a:ext cx="374904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2628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異國儀式感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黃銅器皿 × 金色筷 × 明亮空間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01168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011680"/>
            <a:ext cx="3749040" cy="3200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0299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560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模組化效率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食材共用率 ≥ 70% / 中央廚房配送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374904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視覺辨識度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愛馬仕橘 × 深海藍 · 打破平價火鍋同質感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20624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0" y="4206240"/>
            <a:ext cx="3749040" cy="3200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連鎖可複製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2628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先行，24 個月啟動加盟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420624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206240"/>
            <a:ext cx="3749040" cy="3200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224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6676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社群裂變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66760" y="5394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爆品視覺設計 × 壽星強制聚餐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Values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VISUAL IDENTITY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視覺識別系統｜色彩規範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840480" cy="4206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愛馬仕橘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Orange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#F37021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243 / 112 / 33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67 / 92 / 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PMS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165 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使用佔比 50–60%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Logo、主視覺、招牌、外帶包材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2011680"/>
            <a:ext cx="3840480" cy="4206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深海藍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1772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Deep Blue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5120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#0B2545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37 / 69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CMYK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/ 85 / 45 / 55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PMS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282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使用佔比 25–30%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3977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文字主色、菜單字、制服、招牌字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輔助色系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2423160"/>
            <a:ext cx="731520" cy="685800"/>
          </a:xfrm>
          <a:prstGeom prst="rect">
            <a:avLst/>
          </a:prstGeom>
          <a:solidFill>
            <a:srgbClr val="FAFAF7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24597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純淨白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#FAFAF7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12480" y="3182112"/>
            <a:ext cx="731520" cy="685800"/>
          </a:xfrm>
          <a:prstGeom prst="rect">
            <a:avLst/>
          </a:prstGeom>
          <a:solidFill>
            <a:srgbClr val="D9D6C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3218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仿大理石灰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#D9D6CE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12480" y="3941064"/>
            <a:ext cx="731520" cy="685800"/>
          </a:xfrm>
          <a:prstGeom prst="rect">
            <a:avLst/>
          </a:prstGeom>
          <a:solidFill>
            <a:srgbClr val="C9A47C"/>
          </a:solidFill>
          <a:ln w="12700">
            <a:solidFill>
              <a:srgbClr val="C9A4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溫潤木質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235440" y="4306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#C9A47C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0" y="4700016"/>
            <a:ext cx="731520" cy="685800"/>
          </a:xfrm>
          <a:prstGeom prst="rect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0" y="4736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黃銅金屬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35440" y="50657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#B08D57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0" y="5458968"/>
            <a:ext cx="731520" cy="68580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5495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暖炭灰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35440" y="5824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#2C2C2C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VISUAL IDENTITY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字型系統與 LOGO 規範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109728" cy="4206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字型系統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中文主標題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思源黑體 Heavy / Noto Sans TC Black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中文內文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思源黑體 Regular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英文／韓文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ExtraBold + Nanum Square Neo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數字 / 價格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4663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Bold（深海藍）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5394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韓食日常鍋物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$260  馬鈴薯排骨湯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5532120" cy="4206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使用規範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132320" y="2743200"/>
            <a:ext cx="3749040" cy="2011680"/>
          </a:xfrm>
          <a:prstGeom prst="rect">
            <a:avLst/>
          </a:prstGeom>
          <a:solidFill>
            <a:srgbClr val="FAFAF7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26948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</a:t>
            </a:r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檔案置入區（橘底白字 / 深海藍底橘字皆可）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46520" y="484632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最小留白：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四周淨空 ≥ Logo 高度 1/3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最小尺寸：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印刷 ≥ 15mm / 數位 ≥ 40px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嚴禁：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拉伸變形 / 加陰影 / 任意換色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Identity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戰略定位｜降維打擊邏輯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把韓食從「低頻高客單的聚餐選擇」 → 轉變為「高頻平價的日常剛需」。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3291840"/>
                <a:gridCol w="4023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對標對手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對方價位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對方弱點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我方武器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傳統韓式燒肉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$600–1200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高客單、低頻次、空間老派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平價切入、日常高頻、明亮空間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台式平價火鍋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$200–300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風味同質、缺少儀式感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黃銅器皿、主色對比、韓式靈魂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韓式湯飯小店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$150–220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衛生感弱、難連鎖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中央廚房、SOP、可加盟複製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4864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核心戰略句：用韓食的風味差異化 × 平價火鍋的營運效率，創造第三條路。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PRODUCT &amp; 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產品與定價策略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749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749040" cy="1371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$110–140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主食類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引流主力 · 毛利 55–60%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749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011680"/>
            <a:ext cx="3749040" cy="137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$180–260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262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鍋物類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核心利潤 · 毛利 65–72%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011680"/>
            <a:ext cx="3749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011680"/>
            <a:ext cx="3749040" cy="1371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2402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$40–80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1248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升級碳水／飲品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客單提升 · 毛利 70%+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F5F3E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雙軌定價邏輯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5262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▎主食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降低進店門檻、衝高午餐迴轉率、對抗平價火鍋午餐客群。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▎鍋物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核心利潤來源、打卡主力、夜間聚餐主力，其中馬鈴薯排骨湯 $260 為視覺裂變爆品。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▎加點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$20／$25／$30 三階階梯，Kiosk 操作直覺、客單可彈性升級。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▎模組化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食材共用率 ≥ 70%（泡菜、節瓜、豆芽、板豆腐、金針菇），支撐中央廚房與加盟複製。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Pricing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MENU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菜單架構（v1 歸檔）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182880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代表品項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價格帶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戰略角色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主食 / 拌飯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牛／豬烤肉飯、拌飯、蔬食拌飯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 – $140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午餐引流、學生剛需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鍋物 / 湯飯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泡菜鍋、大醬湯、海鮮大醬湯、豬肉湯飯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$180 – $240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核心利潤、晚餐主力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爆品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馬鈴薯排骨湯（肉山視覺）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打卡視覺裂變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◆ 碳水武器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韓式海苔芝麻拌飯（加購升級）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+$40 / 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降維打擊：對標台火滷肉飯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麵類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泡菜烏龍／拉麵／冬粉、炸醬麵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 – $120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下午輕食、學生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加點菜盤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白菜、高麗菜、金針菇、節瓜…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 / 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共用食材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手工料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手工魚冊、魚餃、魚丸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 / 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加點提客單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海鮮肉品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鮮蝦、蛤蠣、中卷、牛／豬肉片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 / 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加點提客單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降維鐵律：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小菜自助吧 ≤ 6 款 · 無桌邊服務 · Kiosk 點餐 · 海苔芝麻拌飯 +$40 直擊「滷肉飯吃到飽」心智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SPACE &amp;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空間與體驗設計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029200" cy="4206240"/>
          </a:xfrm>
          <a:prstGeom prst="rect">
            <a:avLst/>
          </a:prstGeom>
          <a:solidFill>
            <a:srgbClr val="FAFAF7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3886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</a:t>
            </a:r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空間示意圖（詳見附錄生圖指令）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明亮輕工業風 · 純淨白主牆 · 水泥天花 · 橡木桌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715000" y="2103120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057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照明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座位區 ≥ 500 lux · 廚房 ≥ 750 lux，徹底捨棄昏黃燈光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2807208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7614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色調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30815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主牆純淨白 + 水泥裸露；地板仿大理石灰或淺木紋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3511296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4655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7856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人桌 70% / 4 人桌 25% / 6 人以上 5%，對應高頻日常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4215384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41696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→ 自助吧 → 座位 → 出餐口，單向不回頭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4919472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4873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音樂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韓系 City Pop · 60–65 分貝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5623560"/>
            <a:ext cx="457200" cy="45720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5577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器皿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黃銅小鍋 / 金色扁筷 / 長柄湯匙 — 低成本高儀式感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MARKETING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視覺裂變｜打卡爆品策略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4754880" cy="4206240"/>
          </a:xfrm>
          <a:prstGeom prst="rect">
            <a:avLst/>
          </a:prstGeom>
          <a:solidFill>
            <a:srgbClr val="FAFAF7"/>
          </a:solidFill>
          <a:ln w="15875">
            <a:solidFill>
              <a:srgbClr val="B08D5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3886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8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</a:t>
            </a:r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馬鈴薯排骨湯 $260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爆品視覺圖（詳見附錄生圖指令）</a:t>
            </a:r>
            <a:endParaRPr lang="en-US" sz="18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肉山堆疊高出鍋緣 ≥ 8cm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2011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一道菜 = 一個打卡裝置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577840" y="2697480"/>
            <a:ext cx="62179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視覺鐵則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29992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排骨肉山堆疊必須高出鍋緣 ≥ 8cm，出餐前店員撒芝麻蔥花製造儀式感瞬間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3410712"/>
            <a:ext cx="62179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4564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拍照場景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371246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黃銅小鍋 + 金色筷子 + 純淨白桌面 = 天然打卡棚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4123944"/>
            <a:ext cx="62179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4169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話題 Hashtag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15000" y="442569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#肉山挑戰 #韓食日常 #日常韓食鍋物 — 設計社群語言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4837176"/>
            <a:ext cx="62179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48828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員工 SOP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51389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固定上菜站位、主動詢問「要幫您拍照嗎？」、鼓勵標註官方帳號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5550408"/>
            <a:ext cx="62179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5596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壽星強制聚餐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5852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當月壽星送「特製韓式半半炸雞」或「肉量 +50%」— 低邊際成本、強制帶 3–4 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KOC / KOL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網紅行銷三方案｜投資方可勾選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6596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3749040" cy="11430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種子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互惠啟動包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761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NT$ 5 萬／月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20 位（1k–1 萬追蹤）互惠體驗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評論 + IG 打卡激勵設計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素材回收 × 10 支／月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/ Threads 社群貼文規劃 × 8 則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預期曝光 30–60 萬次／月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適合：軟開幕前 2 個月、Organic 測水溫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965960"/>
            <a:ext cx="3749040" cy="11430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蜂群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蜂群 + 微型付費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2761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NT$ 10 萬／月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2461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30 位互惠 + 5 位微型付費（1–5 萬）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Reels / Threads 議題操作 × 2 主題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影片剪輯素材 × 15 支／月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廣告投放 NT$ 1.5 萬（加熱貼文）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預期曝光 80–150 萬次／月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適合：正式開幕首 3 個月、衝熱度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965960"/>
            <a:ext cx="3749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1965960"/>
            <a:ext cx="3749040" cy="11430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開幕爆發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Tainan KOC 開幕集氣包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58200" y="27614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NT$ 3.5 萬／單檔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58200" y="324612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台南在地 KOC 10 位實地探店（單檔）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全程餐費安排 + 接待腳本規劃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貼文 / Reels 內容審核 + 標註一致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 7–10 天內發布、洗版 IG 在地標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同步評論 × 10 則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預期曝光 50–80 萬次（集中爆量）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適合：開幕前 2 週、季節檔期單波集氣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29107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 KPI：首店 90 天內社群自然打卡 ≥ 300 則／月 · Google 評論 4.5★ 以上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/ KOL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FINANCIALS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財務試算｜單店單位經濟模型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7432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83080"/>
            <a:ext cx="27432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NT$ 380 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建置投資（中位數）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783080"/>
            <a:ext cx="27432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783080"/>
            <a:ext cx="27432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NT$ 165 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月營收目標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7432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783080"/>
            <a:ext cx="27432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NT$ 41 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月淨利（目標達成）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1783080"/>
            <a:ext cx="2743200" cy="9601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98280" y="1783080"/>
            <a:ext cx="27432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14–18 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98280" y="2359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回本週期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9077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單店 P&amp;L 拆解｜月營收 NT$ 165 萬怎麼來？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5577840" cy="548640"/>
          </a:xfrm>
          <a:prstGeom prst="rect">
            <a:avLst/>
          </a:prstGeom>
          <a:solidFill>
            <a:srgbClr val="F8F6F2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004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NT$ 165 萬 ÷ 30 天 ÷ 客單 $220 = </a:t>
            </a:r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250 來客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22192"/>
          <a:ext cx="55778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005840"/>
                <a:gridCol w="1737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月營收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165.0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食材成本（Kiosk 標準化）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52.8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人事（無桌邊 · 3.5 FTE）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31.4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租金（南區一樓）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19.8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水電 / 耗材 / 其他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11.5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行銷（方案 A+B 月費）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4B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 8.0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月淨利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370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8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457200" y="5779008"/>
            <a:ext cx="5577840" cy="45720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577900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紅利：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 32% + 人事 19% vs. 台式火鍋業界 38% / 28%，每月省下 15+ 萬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72200" y="29077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建置投資明細｜NT$ 380 萬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200400"/>
          <a:ext cx="55778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投資項目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裝潢工程（含水電）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20–25 坪 × 5–6 萬 / 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廚房設備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鍋具 / 冷凍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器皿 · 桌椅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黃銅鍋 / 金色筷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Kiosk × 2 + POS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自助點餐主動線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 CIS / 招牌 / 菜單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含加盟手冊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首波 KOC 開幕集氣 ×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 C × 2 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押金 + 前 2 月租金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視商圈浮動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營運週轉金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 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食材 + 首 2 月人事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6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NT$ 380 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300–500 萬區間中位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021"/>
                    </a:solidFill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457200" y="629107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以上為顧問經驗值參考，簽約後提供逐項 BOM 與報價單。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 ·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FRANCHISE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加盟擴張三階段路徑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200400"/>
            <a:ext cx="10698480" cy="5486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3072384"/>
            <a:ext cx="365760" cy="365760"/>
          </a:xfrm>
          <a:prstGeom prst="ellipse">
            <a:avLst/>
          </a:prstGeom>
          <a:solidFill>
            <a:srgbClr val="F3702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7490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749040"/>
            <a:ext cx="3383280" cy="914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4187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直營驗證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12 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2 間直營店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代工供應核心醬包 / 泡菜，跑通 SOP 與單店回本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12 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3072384"/>
            <a:ext cx="365760" cy="365760"/>
          </a:xfrm>
          <a:prstGeom prst="ellipse">
            <a:avLst/>
          </a:prstGeom>
          <a:solidFill>
            <a:srgbClr val="0B254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37490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3749040"/>
            <a:ext cx="3383280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26280" y="4187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加盟啟動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2628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24 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間店規模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26280" y="5486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南部商圈密集開展，評估自建中央廚房可行性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24 月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72600" y="3072384"/>
            <a:ext cx="365760" cy="365760"/>
          </a:xfrm>
          <a:prstGeom prst="ellipse">
            <a:avLst/>
          </a:prstGeom>
          <a:solidFill>
            <a:srgbClr val="F3702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3749040"/>
            <a:ext cx="3383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3749040"/>
            <a:ext cx="3383280" cy="914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92440" y="41879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區域複製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92440" y="4663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– 48 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983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– 30 間店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092440" y="5486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自建中央廚房 + 加盟權利金 / 食材採購溢價雙收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6384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– 48 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資本節奏：Phase 1 不蓋央廚，降低 CAPEX 壓力｜5 間店以上再自建，加盟金 NT$ 80 萬／店 + 權利金月營收 5% + 食材採購溢價 8–12%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 ·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FEE 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顧問收費兩方案｜投資方挑選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投資方：出資 + 現場營運 + 員工培訓 + 中央廚房建置｜我方：品牌建置 + 行銷護航（不含營運監督）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188720" y="2148840"/>
            <a:ext cx="4846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2148840"/>
            <a:ext cx="4846320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5328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區域品牌孵化全案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8986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Incubation Package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NT$ 250,000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5021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一次性付清 · 交付即結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37947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CIS 視覺系統（愛馬仕橘 × 深藍）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店面招牌 + 櫃檯視覺設計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核心產品定價 + SOP 導入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高共用率食材模組（拌飯 / 鍋物）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Google 地圖建置 + 菜單視覺排版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加盟手冊 + 品牌手冊建置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官網建置（單頁 / 一頁式）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適合：區域品牌冷啟動、從零到一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8720" y="5806440"/>
            <a:ext cx="4846320" cy="502920"/>
          </a:xfrm>
          <a:prstGeom prst="rect">
            <a:avLst/>
          </a:prstGeom>
          <a:solidFill>
            <a:srgbClr val="F5F3E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5852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一次性品牌建置｜打好地基才開店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4846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148840"/>
            <a:ext cx="4846320" cy="12801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258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5328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品牌增長與營運護航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8986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Retainer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NT$ 50,000 / 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5021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半年一簽 · 半年累計 NT$ 30 萬（含廣告實支）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7947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IG / FB / Threads 全平台內容經營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每月促銷企劃（壽星 / 季節 / 品牌活動）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Google 評論管理 + 負評應對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Panda / UberEats 菜單排序 + 定價優化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內含 NT$ 10,000 精準地區廣告實支金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每月行銷成效報表 + 優化建議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KOC / KOL 方案對接與媒合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最受推薦｜南區年輕客群持續曝光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5806440"/>
            <a:ext cx="4846320" cy="502920"/>
          </a:xfrm>
          <a:prstGeom prst="rect">
            <a:avLst/>
          </a:prstGeom>
          <a:solidFill>
            <a:srgbClr val="F5F3EE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852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月費操盤｜每月把流量、訂單、評論做出來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29107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建議搭配：A（開店前一次性）+ B（開幕後每月護航）= 首年品牌建置總投入 NT$ 55 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Structure  ·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接下來這樣走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371600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2578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日內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投資方選定方案 A 或 A+B 組合，簽訂 LOI 意向書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371600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46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3264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日內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3566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選址確認 · 啟動裝潢設計 · CIS 完稿送印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371600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日內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8600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菜單 v2 定版 · 人員招募啟動 · KOC 方案接洽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1371600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17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4636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日內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試營運（軟開幕）· KOC 體驗場 · 動線與 SOP 校正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371600" cy="59436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03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5321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日內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0" y="5623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正式開幕 · 進入月度營運監督期 · 馬鈴薯排骨湯打卡啟動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6217920"/>
            <a:ext cx="914400" cy="457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讓韓食，回到餐桌的日常。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19456" cy="21945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38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附錄｜隨附文件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09728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822960" cy="71323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97510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Brand_Guidelines.md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3042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品牌完整規範手冊（CIS、營運鐵律、加盟 Checklist）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822960" cy="71323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27980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Menu_Master_v1.md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127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菜單主檔 v1（含定價結構健檢與 v2 優化建議）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66160"/>
            <a:ext cx="822960" cy="71323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6210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Pitch_Deck_Investor.pptx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9502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本投資人提案簡報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89120"/>
            <a:ext cx="822960" cy="71323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8912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63040" y="44439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ChatGPT_Image_2_Prompts.md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47731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生圖指令集（封面 / LOGO / 空間 / 爆品 / KOC / 加盟地圖）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124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822960" cy="71323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212080"/>
            <a:ext cx="822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63040" y="526694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（待簽約後交付）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5596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成本卡、SOP 手冊、加盟合約草案、中央廚房配送規格書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83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370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HANSIK ILSANG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韓食日常鍋物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68335" y="6583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 · 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Hansik Ilsang Hotpot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韓食日常鍋物 — 投資人提案</dc:title>
  <dc:subject>PptxGenJS Presentation</dc:subject>
  <dc:creator>Brand Director</dc:creator>
  <cp:lastModifiedBy>Brand Director</cp:lastModifiedBy>
  <cp:revision>1</cp:revision>
  <dcterms:created xsi:type="dcterms:W3CDTF">2026-04-23T14:06:09Z</dcterms:created>
  <dcterms:modified xsi:type="dcterms:W3CDTF">2026-04-23T14:06:09Z</dcterms:modified>
</cp:coreProperties>
</file>