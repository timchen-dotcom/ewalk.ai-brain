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3504895" cy="2926080"/>
          </a:xfrm>
          <a:prstGeom prst="rect">
            <a:avLst/>
          </a:prstGeom>
          <a:solidFill>
            <a:srgbClr val="F1EBDF"/>
          </a:solidFill>
          <a:ln w="12700">
            <a:solidFill>
              <a:srgbClr val="F1EB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926080"/>
            <a:ext cx="2773375" cy="1828800"/>
          </a:xfrm>
          <a:prstGeom prst="rect">
            <a:avLst/>
          </a:prstGeom>
          <a:solidFill>
            <a:srgbClr val="D4B5A5">
              <a:alpha val="60000"/>
            </a:srgbClr>
          </a:solidFill>
          <a:ln w="12700">
            <a:solidFill>
              <a:srgbClr val="D4B5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1500000">
            <a:off x="9692640" y="4892040"/>
            <a:ext cx="320040" cy="96012"/>
          </a:xfrm>
          <a:prstGeom prst="ellipse">
            <a:avLst/>
          </a:prstGeom>
          <a:solidFill>
            <a:srgbClr val="6E8A7A"/>
          </a:solidFill>
          <a:ln w="12700">
            <a:solidFill>
              <a:srgbClr val="6E8A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1500000">
            <a:off x="9966960" y="5029200"/>
            <a:ext cx="256032" cy="76810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-1500000">
            <a:off x="10287000" y="4937760"/>
            <a:ext cx="201168" cy="60350"/>
          </a:xfrm>
          <a:prstGeom prst="ellipse">
            <a:avLst/>
          </a:prstGeom>
          <a:solidFill>
            <a:srgbClr val="8B6F4E"/>
          </a:solidFill>
          <a:ln w="12700">
            <a:solidFill>
              <a:srgbClr val="8B6F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800" kern="0" dirty="0">
                <a:solidFill>
                  <a:srgbClr val="8B6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TG HAIR SALON   ·   SEASONAL PROPOSAL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6916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spc="600" kern="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2026 夏季大檔企劃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1005840" y="2971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spc="300" kern="0" dirty="0">
                <a:solidFill>
                  <a:srgbClr val="6B6154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為這個夏天，命名一場溫柔的風。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005840" y="3886200"/>
            <a:ext cx="1371600" cy="0"/>
          </a:xfrm>
          <a:prstGeom prst="line">
            <a:avLst/>
          </a:prstGeom>
          <a:noFill/>
          <a:ln w="12700">
            <a:solidFill>
              <a:srgbClr val="8B6F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069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spc="400" kern="0" dirty="0">
                <a:solidFill>
                  <a:srgbClr val="8B6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Tranquil Lifestyle Aesthetics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84632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9A8F80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提案週期　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A3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2026.05.01 – 2026.08.31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9A8F80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定位核心　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靜謐質感生活美學 × 夏日療癒儀式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9A8F80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提　案　人　</a:t>
            </a:r>
            <a:pPr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3A3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Marketing Strategist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8B6F4E"/>
          </a:solidFill>
          <a:ln w="12700">
            <a:solidFill>
              <a:srgbClr val="8B6F4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rgbClr val="A7BE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23444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300" kern="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檔期主題命名與核心概念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spc="400" kern="0" dirty="0">
                <a:solidFill>
                  <a:srgbClr val="8B6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Campaign Theme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1064240" cy="0"/>
          </a:xfrm>
          <a:prstGeom prst="line">
            <a:avLst/>
          </a:prstGeom>
          <a:noFill/>
          <a:ln w="12700">
            <a:solidFill>
              <a:srgbClr val="E8DF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4389120" cy="2468880"/>
          </a:xfrm>
          <a:prstGeom prst="rect">
            <a:avLst/>
          </a:prstGeom>
          <a:solidFill>
            <a:srgbClr val="FFFDF9"/>
          </a:solidFill>
          <a:ln w="9525">
            <a:solidFill>
              <a:srgbClr val="E8DF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83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B6F4E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企　劃　引　言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i="1" spc="200" kern="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當城市開始悶熱，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i="1" spc="200" kern="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我們為泰山的你，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i="1" spc="200" kern="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留一扇靜謐的窗。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i="1" spc="200" kern="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i="1" spc="200" kern="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讓髮色、髮質與頭皮，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i="1" spc="200" kern="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一起迎來一場輕盈的夏日甦醒。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03520" y="1645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154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為業主呈上三個主題方向，供您挑選最貼近 TG 氣息的那一個。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0" y="2240280"/>
            <a:ext cx="502920" cy="502920"/>
          </a:xfrm>
          <a:prstGeom prst="ellipse">
            <a:avLst/>
          </a:prstGeom>
          <a:solidFill>
            <a:srgbClr val="E8DFD0"/>
          </a:solidFill>
          <a:ln w="12700">
            <a:solidFill>
              <a:srgbClr val="E8DF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5C4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0" y="21945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初夏靜謐島嶼</a:t>
            </a:r>
            <a:pPr indent="0" marL="0">
              <a:buNone/>
            </a:pPr>
            <a:r>
              <a:rPr lang="en-US" sz="1100" i="1" dirty="0">
                <a:solidFill>
                  <a:srgbClr val="8B6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Tranquil Isle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0" y="25603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154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把沙龍想像成一座安靜的島。走進來，就離開悶熱的城市。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28803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spc="200" kern="0" dirty="0">
                <a:solidFill>
                  <a:srgbClr val="9A8F80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主打「逃離感」· Me Time · 療癒放鬆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03520" y="3383280"/>
            <a:ext cx="502920" cy="502920"/>
          </a:xfrm>
          <a:prstGeom prst="ellipse">
            <a:avLst/>
          </a:prstGeom>
          <a:solidFill>
            <a:srgbClr val="8B6F4E"/>
          </a:solidFill>
          <a:ln w="12700">
            <a:solidFill>
              <a:srgbClr val="8B6F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D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43600" y="33375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夏日甦息計畫</a:t>
            </a:r>
            <a:pPr indent="0" marL="0">
              <a:buNone/>
            </a:pPr>
            <a:r>
              <a:rPr lang="en-US" sz="1100" i="1" dirty="0">
                <a:solidFill>
                  <a:srgbClr val="8B6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Summer Revive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0" y="37033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154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為肌膚、髮絲與心情，進行一場由內而外的甦醒。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40233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spc="200" kern="0" dirty="0">
                <a:solidFill>
                  <a:srgbClr val="9A8F80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主打「煥新」· 養護升級 · 髮質重生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03520" y="4526280"/>
            <a:ext cx="502920" cy="502920"/>
          </a:xfrm>
          <a:prstGeom prst="ellipse">
            <a:avLst/>
          </a:prstGeom>
          <a:solidFill>
            <a:srgbClr val="E8DFD0"/>
          </a:solidFill>
          <a:ln w="12700">
            <a:solidFill>
              <a:srgbClr val="E8DF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5C4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0" y="44805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微風時節</a:t>
            </a:r>
            <a:pPr indent="0" marL="0">
              <a:buNone/>
            </a:pPr>
            <a:r>
              <a:rPr lang="en-US" sz="1100" i="1" dirty="0">
                <a:solidFill>
                  <a:srgbClr val="8B6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Whisper of Summer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43600" y="48463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154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像一陣穿過木質窗櫺的風，輕盈、乾淨、有餘韻。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0" y="51663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spc="200" kern="0" dirty="0">
                <a:solidFill>
                  <a:srgbClr val="9A8F80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主打「質感輕盈」· 換季 · 生活美學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solidFill>
            <a:srgbClr val="A7BEAE">
              <a:alpha val="25000"/>
            </a:srgbClr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806440"/>
            <a:ext cx="91440" cy="640080"/>
          </a:xfrm>
          <a:prstGeom prst="rect">
            <a:avLst/>
          </a:prstGeom>
          <a:solidFill>
            <a:srgbClr val="6E8A7A"/>
          </a:solidFill>
          <a:ln w="12700">
            <a:solidFill>
              <a:srgbClr val="6E8A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8064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C4A35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顧問推薦　</a:t>
            </a:r>
            <a:pPr indent="0" marL="0">
              <a:buNone/>
            </a:pPr>
            <a:r>
              <a:rPr lang="en-US" sz="1300" b="1" dirty="0">
                <a:solidFill>
                  <a:srgbClr val="5C4A35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B · 夏日甦息計畫</a:t>
            </a:r>
            <a:pPr indent="0" marL="0">
              <a:buNone/>
            </a:pPr>
            <a:r>
              <a:rPr lang="en-US" sz="1100" dirty="0">
                <a:solidFill>
                  <a:srgbClr val="9A8F80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　——　</a:t>
            </a:r>
            <a:pPr indent="0" marL="0">
              <a:buNone/>
            </a:pPr>
            <a:r>
              <a:rPr lang="en-US" sz="110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涵蓋染髮 × 護髮 × 頭皮三條主軸，最能呼應本檔商品結構，貼合「被好好照顧的時光」品牌語氣。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EBDF"/>
          </a:solidFill>
          <a:ln w="12700">
            <a:solidFill>
              <a:srgbClr val="F1EB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spc="200" kern="0" dirty="0">
                <a:solidFill>
                  <a:srgbClr val="9A8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TG hair salon   ·   Tranquil Lifestyle Aesthetics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351215" y="6537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200" kern="0" dirty="0">
                <a:solidFill>
                  <a:srgbClr val="9A8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Summer 2026   ·   01 / 07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A7BE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23444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300" kern="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初見傾心｜新客專屬鉤子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spc="400" kern="0" dirty="0">
                <a:solidFill>
                  <a:srgbClr val="8B6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Acquisition Hook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1064240" cy="0"/>
          </a:xfrm>
          <a:prstGeom prst="line">
            <a:avLst/>
          </a:prstGeom>
          <a:noFill/>
          <a:ln w="12700">
            <a:solidFill>
              <a:srgbClr val="E8DF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5577840" cy="3931920"/>
          </a:xfrm>
          <a:prstGeom prst="rect">
            <a:avLst/>
          </a:prstGeom>
          <a:solidFill>
            <a:srgbClr val="FFFDF9"/>
          </a:solidFill>
          <a:ln w="9525">
            <a:solidFill>
              <a:srgbClr val="E8DF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37360"/>
            <a:ext cx="5577840" cy="109728"/>
          </a:xfrm>
          <a:prstGeom prst="rect">
            <a:avLst/>
          </a:prstGeom>
          <a:solidFill>
            <a:srgbClr val="8B6F4E"/>
          </a:solidFill>
          <a:ln w="12700">
            <a:solidFill>
              <a:srgbClr val="8B6F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57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600" kern="0" dirty="0">
                <a:solidFill>
                  <a:srgbClr val="8B6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CUSTOMER   ·   新客專屬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spc="400" kern="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夏日第一抹輕盈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6B6154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一次擁抱夏天應有的清爽與質感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520440"/>
            <a:ext cx="731520" cy="0"/>
          </a:xfrm>
          <a:prstGeom prst="line">
            <a:avLst/>
          </a:prstGeom>
          <a:noFill/>
          <a:ln w="12700">
            <a:solidFill>
              <a:srgbClr val="8B6F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703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新客染髮體驗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069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A8F80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不分長度　·　不分髮量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5262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B6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NT$ </a:t>
            </a:r>
            <a:pPr indent="0" marL="0">
              <a:buNone/>
            </a:pPr>
            <a:r>
              <a:rPr lang="en-US" sz="6200" b="1" spc="200" kern="0" dirty="0">
                <a:solidFill>
                  <a:srgbClr val="5C4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2,280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7512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B6F4E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文　案　建　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75120" y="2057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8F80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（可用於 IG ／ LINE ／ 店內海報）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629400" y="24231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A7BEAE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「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040880" y="278892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i="1" spc="200" kern="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夏天來了。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i="1" spc="200" kern="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把厚重的顏色，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i="1" spc="200" kern="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換成一種能呼吸的色調。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i="1" spc="200" kern="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i="1" spc="200" kern="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第一次來 TG，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i="1" spc="200" kern="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我們想先讓你感受，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i="1" spc="200" kern="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什麼叫做「被好好照顧」的一個下午。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247120" y="50749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dirty="0">
                <a:solidFill>
                  <a:srgbClr val="A7BEAE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」</a:t>
            </a:r>
            <a:endParaRPr lang="en-US" sz="4000" dirty="0"/>
          </a:p>
        </p:txBody>
      </p:sp>
      <p:sp>
        <p:nvSpPr>
          <p:cNvPr id="20" name="Shape 18"/>
          <p:cNvSpPr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solidFill>
            <a:srgbClr val="F1EBDF"/>
          </a:solidFill>
          <a:ln w="12700">
            <a:solidFill>
              <a:srgbClr val="F1EB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9436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B6F4E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策略意圖　</a:t>
            </a:r>
            <a:pPr indent="0" marL="0">
              <a:buNone/>
            </a:pPr>
            <a:r>
              <a:rPr lang="en-US" sz="110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以單一清爽價降低新客門檻，但不淪為低價競爭——重點是「第一次被好好照顧」的體驗記憶。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EBDF"/>
          </a:solidFill>
          <a:ln w="12700">
            <a:solidFill>
              <a:srgbClr val="F1EB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spc="200" kern="0" dirty="0">
                <a:solidFill>
                  <a:srgbClr val="9A8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TG hair salon   ·   Tranquil Lifestyle Aesthetics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51215" y="6537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200" kern="0" dirty="0">
                <a:solidFill>
                  <a:srgbClr val="9A8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Summer 2026   ·   02 / 07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A7BE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23444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300" kern="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質感進階｜中階定錨菜單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spc="400" kern="0" dirty="0">
                <a:solidFill>
                  <a:srgbClr val="8B6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Anchor Menu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1064240" cy="0"/>
          </a:xfrm>
          <a:prstGeom prst="line">
            <a:avLst/>
          </a:prstGeom>
          <a:noFill/>
          <a:ln w="12700">
            <a:solidFill>
              <a:srgbClr val="E8DF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spc="200" kern="0" dirty="0">
                <a:solidFill>
                  <a:srgbClr val="6B6154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三種節奏，三種溫柔。為你挑一種最適合這個夏天的甦醒方式。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566160" cy="3657600"/>
          </a:xfrm>
          <a:prstGeom prst="rect">
            <a:avLst/>
          </a:prstGeom>
          <a:solidFill>
            <a:srgbClr val="FFFDF9"/>
          </a:solidFill>
          <a:ln w="9525">
            <a:solidFill>
              <a:srgbClr val="E8DF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65960"/>
            <a:ext cx="3566160" cy="109728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spc="400" kern="0" dirty="0">
                <a:solidFill>
                  <a:srgbClr val="A7BE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方案 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560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400" kern="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微風之選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22960" y="3081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300" kern="0" dirty="0">
                <a:solidFill>
                  <a:srgbClr val="8B6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Gentle Breeze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474720"/>
            <a:ext cx="640080" cy="0"/>
          </a:xfrm>
          <a:prstGeom prst="line">
            <a:avLst/>
          </a:prstGeom>
          <a:noFill/>
          <a:ln w="12700">
            <a:solidFill>
              <a:srgbClr val="A7BE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576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B6154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染髮不分長度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B6154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＋ 頭皮隔離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663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6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NT$ </a:t>
            </a:r>
            <a:pPr indent="0" marL="0">
              <a:buNone/>
            </a:pPr>
            <a:r>
              <a:rPr lang="en-US" sz="3200" b="1" spc="100" kern="0" dirty="0">
                <a:solidFill>
                  <a:srgbClr val="5C4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2,280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212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100" kern="0" dirty="0">
                <a:solidFill>
                  <a:srgbClr val="9A8F80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想為夏天換個心情，先從一個乾淨的顏色開始。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97096" y="1892808"/>
            <a:ext cx="3675888" cy="3803904"/>
          </a:xfrm>
          <a:prstGeom prst="rect">
            <a:avLst/>
          </a:prstGeom>
          <a:solidFill>
            <a:srgbClr val="8B6F4E">
              <a:alpha val="15000"/>
            </a:srgbClr>
          </a:solidFill>
          <a:ln w="12700">
            <a:solidFill>
              <a:srgbClr val="8B6F4E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51960" y="1965960"/>
            <a:ext cx="3566160" cy="3657600"/>
          </a:xfrm>
          <a:prstGeom prst="rect">
            <a:avLst/>
          </a:prstGeom>
          <a:solidFill>
            <a:srgbClr val="FFFDF9"/>
          </a:solidFill>
          <a:ln w="15875">
            <a:solidFill>
              <a:srgbClr val="8B6F4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51960" y="1965960"/>
            <a:ext cx="3566160" cy="109728"/>
          </a:xfrm>
          <a:prstGeom prst="rect">
            <a:avLst/>
          </a:prstGeom>
          <a:solidFill>
            <a:srgbClr val="8B6F4E"/>
          </a:solidFill>
          <a:ln w="12700">
            <a:solidFill>
              <a:srgbClr val="8B6F4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12280" y="2194560"/>
            <a:ext cx="914400" cy="274320"/>
          </a:xfrm>
          <a:prstGeom prst="rect">
            <a:avLst/>
          </a:prstGeom>
          <a:solidFill>
            <a:srgbClr val="8B6F4E"/>
          </a:solidFill>
          <a:ln w="12700">
            <a:solidFill>
              <a:srgbClr val="8B6F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DF9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主推方案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26280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spc="400" kern="0" dirty="0">
                <a:solidFill>
                  <a:srgbClr val="8B6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方案 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26280" y="2560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400" kern="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靜謐之選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526280" y="3081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300" kern="0" dirty="0">
                <a:solidFill>
                  <a:srgbClr val="8B6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Quiet Afternoon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26280" y="3474720"/>
            <a:ext cx="640080" cy="0"/>
          </a:xfrm>
          <a:prstGeom prst="line">
            <a:avLst/>
          </a:prstGeom>
          <a:noFill/>
          <a:ln w="12700">
            <a:solidFill>
              <a:srgbClr val="8B6F4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36576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B6154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染髮不分長度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B6154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＋ 髮質淨化 3 劑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B6154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＋ 艾淂單劑護髮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26280" y="4663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6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NT$ </a:t>
            </a:r>
            <a:pPr indent="0" marL="0">
              <a:buNone/>
            </a:pPr>
            <a:r>
              <a:rPr lang="en-US" sz="3200" b="1" spc="100" kern="0" dirty="0">
                <a:solidFill>
                  <a:srgbClr val="5C4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3,280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26280" y="5212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100" kern="0" dirty="0">
                <a:solidFill>
                  <a:srgbClr val="9A8F80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希望染後的髮絲，依然保有柔軟與光澤。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955280" y="1965960"/>
            <a:ext cx="3566160" cy="3657600"/>
          </a:xfrm>
          <a:prstGeom prst="rect">
            <a:avLst/>
          </a:prstGeom>
          <a:solidFill>
            <a:srgbClr val="FFFDF9"/>
          </a:solidFill>
          <a:ln w="9525">
            <a:solidFill>
              <a:srgbClr val="E8DF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55280" y="1965960"/>
            <a:ext cx="3566160" cy="109728"/>
          </a:xfrm>
          <a:prstGeom prst="rect">
            <a:avLst/>
          </a:prstGeom>
          <a:solidFill>
            <a:srgbClr val="D4B5A5"/>
          </a:solidFill>
          <a:ln w="12700">
            <a:solidFill>
              <a:srgbClr val="D4B5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0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spc="400" kern="0" dirty="0">
                <a:solidFill>
                  <a:srgbClr val="D4B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方案 C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0" y="2560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spc="400" kern="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甦息之選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8229600" y="3081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300" kern="0" dirty="0">
                <a:solidFill>
                  <a:srgbClr val="8B6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Full Revive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29600" y="3474720"/>
            <a:ext cx="640080" cy="0"/>
          </a:xfrm>
          <a:prstGeom prst="line">
            <a:avLst/>
          </a:prstGeom>
          <a:noFill/>
          <a:ln w="12700">
            <a:solidFill>
              <a:srgbClr val="D4B5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0" y="36576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B6154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染髮不分長度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B6154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＋ 髮質淨化 5 劑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6B6154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＋ 甦沐梓結構式護髮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29600" y="4663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6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NT$ </a:t>
            </a:r>
            <a:pPr indent="0" marL="0">
              <a:buNone/>
            </a:pPr>
            <a:r>
              <a:rPr lang="en-US" sz="3200" b="1" spc="100" kern="0" dirty="0">
                <a:solidFill>
                  <a:srgbClr val="5C4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5,280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29600" y="5212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100" kern="0" dirty="0">
                <a:solidFill>
                  <a:srgbClr val="9A8F80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給自己一次完整的重生，從髮芯到髮尾。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5760720"/>
            <a:ext cx="5440680" cy="685800"/>
          </a:xfrm>
          <a:prstGeom prst="rect">
            <a:avLst/>
          </a:prstGeom>
          <a:solidFill>
            <a:srgbClr val="F1EBDF"/>
          </a:solidFill>
          <a:ln w="12700">
            <a:solidFill>
              <a:srgbClr val="F1EBD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5760720"/>
            <a:ext cx="73152" cy="685800"/>
          </a:xfrm>
          <a:prstGeom prst="rect">
            <a:avLst/>
          </a:prstGeom>
          <a:solidFill>
            <a:srgbClr val="6E8A7A"/>
          </a:solidFill>
          <a:ln w="12700">
            <a:solidFill>
              <a:srgbClr val="6E8A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5760720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spc="300" kern="0" dirty="0">
                <a:solidFill>
                  <a:srgbClr val="5C4A35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話術一　·　從 A 升級到 B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「夏天頭皮出油多，髮色也褪得快。加一劑淨化＋單劑護髮，染完的光澤差很多—— 我想你值得讓這個夏天的髮色，漂亮得更久一點。」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72200" y="5760720"/>
            <a:ext cx="5440680" cy="685800"/>
          </a:xfrm>
          <a:prstGeom prst="rect">
            <a:avLst/>
          </a:prstGeom>
          <a:solidFill>
            <a:srgbClr val="F1EBDF"/>
          </a:solidFill>
          <a:ln w="12700">
            <a:solidFill>
              <a:srgbClr val="F1EBD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72200" y="5760720"/>
            <a:ext cx="73152" cy="685800"/>
          </a:xfrm>
          <a:prstGeom prst="rect">
            <a:avLst/>
          </a:prstGeom>
          <a:solidFill>
            <a:srgbClr val="6E8A7A"/>
          </a:solidFill>
          <a:ln w="12700">
            <a:solidFill>
              <a:srgbClr val="6E8A7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5760720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spc="300" kern="0" dirty="0">
                <a:solidFill>
                  <a:srgbClr val="5C4A35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話術二　·　從 B 升級到 C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「如果這次你的髮況本來就比較乾，C 方案的結構式護髮，是我自己也會為重要客人保留的選擇。一個季節犒賞自己一次，其實很剛好。」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EBDF"/>
          </a:solidFill>
          <a:ln w="12700">
            <a:solidFill>
              <a:srgbClr val="F1EBD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spc="200" kern="0" dirty="0">
                <a:solidFill>
                  <a:srgbClr val="9A8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TG hair salon   ·   Tranquil Lifestyle Aesthetics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351215" y="6537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200" kern="0" dirty="0">
                <a:solidFill>
                  <a:srgbClr val="9A8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Summer 2026   ·   03 / 07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A7BE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23444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300" kern="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夏日療癒｜全設計師加價大補帖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spc="400" kern="0" dirty="0">
                <a:solidFill>
                  <a:srgbClr val="8B6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Add-on Boosters   ·   Summer Ritual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1064240" cy="0"/>
          </a:xfrm>
          <a:prstGeom prst="line">
            <a:avLst/>
          </a:prstGeom>
          <a:noFill/>
          <a:ln w="12700">
            <a:solidFill>
              <a:srgbClr val="E8DF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i="1" spc="200" kern="0" dirty="0">
                <a:solidFill>
                  <a:srgbClr val="6B6154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夏天的頭皮，比你想得更敏感。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i="1" spc="200" kern="0" dirty="0">
                <a:solidFill>
                  <a:srgbClr val="6B6154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以下升級方案，為「已預約燙染」的你特別準備——不是加購，是為夏天多準備一份呵護。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474720"/>
                <a:gridCol w="3474720"/>
                <a:gridCol w="15544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DF9"/>
                          </a:solidFill>
                          <a:latin typeface="PMingLiU" pitchFamily="34" charset="0"/>
                          <a:ea typeface="PMingLiU" pitchFamily="34" charset="-122"/>
                          <a:cs typeface="PMingLiU" pitchFamily="34" charset="-120"/>
                        </a:rPr>
                        <a:t>療程升級</a:t>
                      </a:r>
                      <a:endParaRPr lang="en-US" sz="1100" dirty="0">
                        <a:latin typeface="PMingLiU" charset="0"/>
                        <a:ea typeface="PMingLiU" charset="0"/>
                        <a:cs typeface="PMingLiU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F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DF9"/>
                          </a:solidFill>
                          <a:latin typeface="PMingLiU" pitchFamily="34" charset="0"/>
                          <a:ea typeface="PMingLiU" pitchFamily="34" charset="-122"/>
                          <a:cs typeface="PMingLiU" pitchFamily="34" charset="-120"/>
                        </a:rPr>
                        <a:t>設計巧思</a:t>
                      </a:r>
                      <a:endParaRPr lang="en-US" sz="1100" dirty="0">
                        <a:latin typeface="PMingLiU" charset="0"/>
                        <a:ea typeface="PMingLiU" charset="0"/>
                        <a:cs typeface="PMingLiU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F4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DF9"/>
                          </a:solidFill>
                          <a:latin typeface="PMingLiU" pitchFamily="34" charset="0"/>
                          <a:ea typeface="PMingLiU" pitchFamily="34" charset="-122"/>
                          <a:cs typeface="PMingLiU" pitchFamily="34" charset="-120"/>
                        </a:rPr>
                        <a:t>夏日必要性</a:t>
                      </a:r>
                      <a:endParaRPr lang="en-US" sz="1100" dirty="0">
                        <a:latin typeface="PMingLiU" charset="0"/>
                        <a:ea typeface="PMingLiU" charset="0"/>
                        <a:cs typeface="PMingLiU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F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DF9"/>
                          </a:solidFill>
                          <a:latin typeface="PMingLiU" pitchFamily="34" charset="0"/>
                          <a:ea typeface="PMingLiU" pitchFamily="34" charset="-122"/>
                          <a:cs typeface="PMingLiU" pitchFamily="34" charset="-120"/>
                        </a:rPr>
                        <a:t>加　價</a:t>
                      </a:r>
                      <a:endParaRPr lang="en-US" sz="1100" dirty="0">
                        <a:latin typeface="PMingLiU" charset="0"/>
                        <a:ea typeface="PMingLiU" charset="0"/>
                        <a:cs typeface="PMingLiU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6F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42C"/>
                          </a:solidFill>
                          <a:latin typeface="PMingLiU" pitchFamily="34" charset="0"/>
                          <a:ea typeface="PMingLiU" pitchFamily="34" charset="-122"/>
                          <a:cs typeface="PMingLiU" pitchFamily="34" charset="-120"/>
                        </a:rPr>
                        <a:t>甦沐梓結構式護髮</a:t>
                      </a:r>
                      <a:endParaRPr lang="en-US" sz="1100" dirty="0">
                        <a:latin typeface="PMingLiU" charset="0"/>
                        <a:ea typeface="PMingLiU" charset="0"/>
                        <a:cs typeface="PMingLiU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42C"/>
                          </a:solidFill>
                          <a:latin typeface="PMingLiU" pitchFamily="34" charset="0"/>
                          <a:ea typeface="PMingLiU" pitchFamily="34" charset="-122"/>
                          <a:cs typeface="PMingLiU" pitchFamily="34" charset="-120"/>
                        </a:rPr>
                        <a:t>從髮芯修補結構，讓染後色澤延長</a:t>
                      </a:r>
                      <a:endParaRPr lang="en-US" sz="1100" dirty="0">
                        <a:latin typeface="PMingLiU" charset="0"/>
                        <a:ea typeface="PMingLiU" charset="0"/>
                        <a:cs typeface="PMingLiU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42C"/>
                          </a:solidFill>
                          <a:latin typeface="PMingLiU" pitchFamily="34" charset="0"/>
                          <a:ea typeface="PMingLiU" pitchFamily="34" charset="-122"/>
                          <a:cs typeface="PMingLiU" pitchFamily="34" charset="-120"/>
                        </a:rPr>
                        <a:t>給受紫外線侵擾的髮絲一次完整修復</a:t>
                      </a:r>
                      <a:endParaRPr lang="en-US" sz="1100" dirty="0">
                        <a:latin typeface="PMingLiU" charset="0"/>
                        <a:ea typeface="PMingLiU" charset="0"/>
                        <a:cs typeface="PMingLiU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i="1" dirty="0">
                          <a:solidFill>
                            <a:srgbClr val="5C4A35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+ NT$ 1,680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42C"/>
                          </a:solidFill>
                          <a:latin typeface="PMingLiU" pitchFamily="34" charset="0"/>
                          <a:ea typeface="PMingLiU" pitchFamily="34" charset="-122"/>
                          <a:cs typeface="PMingLiU" pitchFamily="34" charset="-120"/>
                        </a:rPr>
                        <a:t>髮質淨化 3 劑</a:t>
                      </a:r>
                      <a:endParaRPr lang="en-US" sz="1100" dirty="0">
                        <a:latin typeface="PMingLiU" charset="0"/>
                        <a:ea typeface="PMingLiU" charset="0"/>
                        <a:cs typeface="PMingLiU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42C"/>
                          </a:solidFill>
                          <a:latin typeface="PMingLiU" pitchFamily="34" charset="0"/>
                          <a:ea typeface="PMingLiU" pitchFamily="34" charset="-122"/>
                          <a:cs typeface="PMingLiU" pitchFamily="34" charset="-120"/>
                        </a:rPr>
                        <a:t>清除殘留、重建髮絲透明感</a:t>
                      </a:r>
                      <a:endParaRPr lang="en-US" sz="1100" dirty="0">
                        <a:latin typeface="PMingLiU" charset="0"/>
                        <a:ea typeface="PMingLiU" charset="0"/>
                        <a:cs typeface="PMingLiU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42C"/>
                          </a:solidFill>
                          <a:latin typeface="PMingLiU" pitchFamily="34" charset="0"/>
                          <a:ea typeface="PMingLiU" pitchFamily="34" charset="-122"/>
                          <a:cs typeface="PMingLiU" pitchFamily="34" charset="-120"/>
                        </a:rPr>
                        <a:t>造型品 &amp; 防曬殘留的溫柔卸妝</a:t>
                      </a:r>
                      <a:endParaRPr lang="en-US" sz="1100" dirty="0">
                        <a:latin typeface="PMingLiU" charset="0"/>
                        <a:ea typeface="PMingLiU" charset="0"/>
                        <a:cs typeface="PMingLiU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i="1" dirty="0">
                          <a:solidFill>
                            <a:srgbClr val="5C4A35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+ NT$ 800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D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42C"/>
                          </a:solidFill>
                          <a:latin typeface="PMingLiU" pitchFamily="34" charset="0"/>
                          <a:ea typeface="PMingLiU" pitchFamily="34" charset="-122"/>
                          <a:cs typeface="PMingLiU" pitchFamily="34" charset="-120"/>
                        </a:rPr>
                        <a:t>髮質淨化 5 劑</a:t>
                      </a:r>
                      <a:endParaRPr lang="en-US" sz="1100" dirty="0">
                        <a:latin typeface="PMingLiU" charset="0"/>
                        <a:ea typeface="PMingLiU" charset="0"/>
                        <a:cs typeface="PMingLiU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42C"/>
                          </a:solidFill>
                          <a:latin typeface="PMingLiU" pitchFamily="34" charset="0"/>
                          <a:ea typeface="PMingLiU" pitchFamily="34" charset="-122"/>
                          <a:cs typeface="PMingLiU" pitchFamily="34" charset="-120"/>
                        </a:rPr>
                        <a:t>升級版深層淨化，髮質如絲</a:t>
                      </a:r>
                      <a:endParaRPr lang="en-US" sz="1100" dirty="0">
                        <a:latin typeface="PMingLiU" charset="0"/>
                        <a:ea typeface="PMingLiU" charset="0"/>
                        <a:cs typeface="PMingLiU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42C"/>
                          </a:solidFill>
                          <a:latin typeface="PMingLiU" pitchFamily="34" charset="0"/>
                          <a:ea typeface="PMingLiU" pitchFamily="34" charset="-122"/>
                          <a:cs typeface="PMingLiU" pitchFamily="34" charset="-120"/>
                        </a:rPr>
                        <a:t>針對長期染燙、油感明顯的髮況</a:t>
                      </a:r>
                      <a:endParaRPr lang="en-US" sz="1100" dirty="0">
                        <a:latin typeface="PMingLiU" charset="0"/>
                        <a:ea typeface="PMingLiU" charset="0"/>
                        <a:cs typeface="PMingLiU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i="1" dirty="0">
                          <a:solidFill>
                            <a:srgbClr val="5C4A35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+ NT$ 1,200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42C"/>
                          </a:solidFill>
                          <a:latin typeface="PMingLiU" pitchFamily="34" charset="0"/>
                          <a:ea typeface="PMingLiU" pitchFamily="34" charset="-122"/>
                          <a:cs typeface="PMingLiU" pitchFamily="34" charset="-120"/>
                        </a:rPr>
                        <a:t>頭皮護理 ＋ 艾淂單劑護髮</a:t>
                      </a:r>
                      <a:endParaRPr lang="en-US" sz="1100" dirty="0">
                        <a:latin typeface="PMingLiU" charset="0"/>
                        <a:ea typeface="PMingLiU" charset="0"/>
                        <a:cs typeface="PMingLiU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42C"/>
                          </a:solidFill>
                          <a:latin typeface="PMingLiU" pitchFamily="34" charset="0"/>
                          <a:ea typeface="PMingLiU" pitchFamily="34" charset="-122"/>
                          <a:cs typeface="PMingLiU" pitchFamily="34" charset="-120"/>
                        </a:rPr>
                        <a:t>舒緩頭皮 × 輕盈保濕</a:t>
                      </a:r>
                      <a:endParaRPr lang="en-US" sz="1100" dirty="0">
                        <a:latin typeface="PMingLiU" charset="0"/>
                        <a:ea typeface="PMingLiU" charset="0"/>
                        <a:cs typeface="PMingLiU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D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42C"/>
                          </a:solidFill>
                          <a:latin typeface="PMingLiU" pitchFamily="34" charset="0"/>
                          <a:ea typeface="PMingLiU" pitchFamily="34" charset="-122"/>
                          <a:cs typeface="PMingLiU" pitchFamily="34" charset="-120"/>
                        </a:rPr>
                        <a:t>夏日出油、敏感頭皮的基礎照護</a:t>
                      </a:r>
                      <a:endParaRPr lang="en-US" sz="1100" dirty="0">
                        <a:latin typeface="PMingLiU" charset="0"/>
                        <a:ea typeface="PMingLiU" charset="0"/>
                        <a:cs typeface="PMingLiU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i="1" dirty="0">
                          <a:solidFill>
                            <a:srgbClr val="5C4A35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+ NT$ 2,080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D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42C"/>
                          </a:solidFill>
                          <a:latin typeface="PMingLiU" pitchFamily="34" charset="0"/>
                          <a:ea typeface="PMingLiU" pitchFamily="34" charset="-122"/>
                          <a:cs typeface="PMingLiU" pitchFamily="34" charset="-120"/>
                        </a:rPr>
                        <a:t>頭皮護理 ＋ 甦沐梓護髮</a:t>
                      </a:r>
                      <a:endParaRPr lang="en-US" sz="1100" dirty="0">
                        <a:latin typeface="PMingLiU" charset="0"/>
                        <a:ea typeface="PMingLiU" charset="0"/>
                        <a:cs typeface="PMingLiU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42C"/>
                          </a:solidFill>
                          <a:latin typeface="PMingLiU" pitchFamily="34" charset="0"/>
                          <a:ea typeface="PMingLiU" pitchFamily="34" charset="-122"/>
                          <a:cs typeface="PMingLiU" pitchFamily="34" charset="-120"/>
                        </a:rPr>
                        <a:t>頭皮深層舒緩 × 結構式修護</a:t>
                      </a:r>
                      <a:endParaRPr lang="en-US" sz="1100" dirty="0">
                        <a:latin typeface="PMingLiU" charset="0"/>
                        <a:ea typeface="PMingLiU" charset="0"/>
                        <a:cs typeface="PMingLiU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42C"/>
                          </a:solidFill>
                          <a:latin typeface="PMingLiU" pitchFamily="34" charset="0"/>
                          <a:ea typeface="PMingLiU" pitchFamily="34" charset="-122"/>
                          <a:cs typeface="PMingLiU" pitchFamily="34" charset="-120"/>
                        </a:rPr>
                        <a:t>給整個夏天一份頂規的寧靜時光</a:t>
                      </a:r>
                      <a:endParaRPr lang="en-US" sz="1100" dirty="0">
                        <a:latin typeface="PMingLiU" charset="0"/>
                        <a:ea typeface="PMingLiU" charset="0"/>
                        <a:cs typeface="PMingLiU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i="1" dirty="0">
                          <a:solidFill>
                            <a:srgbClr val="5C4A35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+ NT$ 2,480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27000" marR="127000" marT="76200" marB="76200" anchor="ctr">
                    <a:lnL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760720"/>
            <a:ext cx="11064240" cy="685800"/>
          </a:xfrm>
          <a:prstGeom prst="rect">
            <a:avLst/>
          </a:prstGeom>
          <a:solidFill>
            <a:srgbClr val="A7BEAE">
              <a:alpha val="22000"/>
            </a:srgbClr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5760720"/>
            <a:ext cx="73152" cy="685800"/>
          </a:xfrm>
          <a:prstGeom prst="rect">
            <a:avLst/>
          </a:prstGeom>
          <a:solidFill>
            <a:srgbClr val="6E8A7A"/>
          </a:solidFill>
          <a:ln w="12700">
            <a:solidFill>
              <a:srgbClr val="6E8A7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57607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4A35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推薦話術　</a:t>
            </a:r>
            <a:pPr indent="0" marL="0">
              <a:buNone/>
            </a:pPr>
            <a:r>
              <a:rPr lang="en-US" sz="1200" i="1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「這些加購不是要讓你多花錢，而是讓這次做完的成果，可以陪你久一點。」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EBDF"/>
          </a:solidFill>
          <a:ln w="12700">
            <a:solidFill>
              <a:srgbClr val="F1EB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spc="200" kern="0" dirty="0">
                <a:solidFill>
                  <a:srgbClr val="9A8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TG hair salon   ·   Tranquil Lifestyle Aesthetics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351215" y="6537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200" kern="0" dirty="0">
                <a:solidFill>
                  <a:srgbClr val="9A8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Summer 2026   ·   04 / 07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A7BE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23444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300" kern="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專屬陪伴｜熟客質感養成機制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spc="400" kern="0" dirty="0">
                <a:solidFill>
                  <a:srgbClr val="8B6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Loyalty Program   ·   TG Lifestyle Passport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1064240" cy="0"/>
          </a:xfrm>
          <a:prstGeom prst="line">
            <a:avLst/>
          </a:prstGeom>
          <a:noFill/>
          <a:ln w="12700">
            <a:solidFill>
              <a:srgbClr val="E8DF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4937760" cy="3017520"/>
          </a:xfrm>
          <a:prstGeom prst="rect">
            <a:avLst/>
          </a:prstGeom>
          <a:solidFill>
            <a:srgbClr val="FFFDF9"/>
          </a:solidFill>
          <a:ln w="12700">
            <a:solidFill>
              <a:srgbClr val="8B6F4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91640"/>
            <a:ext cx="4937760" cy="73152"/>
          </a:xfrm>
          <a:prstGeom prst="rect">
            <a:avLst/>
          </a:prstGeom>
          <a:solidFill>
            <a:srgbClr val="B8934E"/>
          </a:solidFill>
          <a:ln w="12700">
            <a:solidFill>
              <a:srgbClr val="B893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20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spc="600" kern="0" dirty="0">
                <a:solidFill>
                  <a:srgbClr val="B893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TG LIFESTYLE PASSPORT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600" kern="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TG 質感生活護照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822960" y="3154680"/>
            <a:ext cx="731520" cy="0"/>
          </a:xfrm>
          <a:prstGeom prst="line">
            <a:avLst/>
          </a:prstGeom>
          <a:noFill/>
          <a:ln w="12700">
            <a:solidFill>
              <a:srgbClr val="B893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3756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i="1" spc="200" kern="0" dirty="0">
                <a:solidFill>
                  <a:srgbClr val="6B6154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每一次走進 TG，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spc="200" kern="0" dirty="0">
                <a:solidFill>
                  <a:srgbClr val="6B6154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都是為你蓋下的一枚印記。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i="1" spc="200" kern="0" dirty="0">
                <a:solidFill>
                  <a:srgbClr val="6B6154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spc="200" kern="0" dirty="0">
                <a:solidFill>
                  <a:srgbClr val="6B6154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見證的，是設計師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spc="200" kern="0" dirty="0">
                <a:solidFill>
                  <a:srgbClr val="6B6154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越來越懂你的那段時光。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52160" y="17830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B6F4E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機　制　設　計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2194560"/>
            <a:ext cx="5760720" cy="1143000"/>
          </a:xfrm>
          <a:prstGeom prst="rect">
            <a:avLst/>
          </a:prstGeom>
          <a:solidFill>
            <a:srgbClr val="FFFDF9"/>
          </a:solidFill>
          <a:ln w="9525">
            <a:solidFill>
              <a:srgbClr val="E8DF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2194560"/>
            <a:ext cx="91440" cy="114300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2514600"/>
            <a:ext cx="502920" cy="502920"/>
          </a:xfrm>
          <a:prstGeom prst="ellipse">
            <a:avLst/>
          </a:prstGeom>
          <a:solidFill>
            <a:srgbClr val="A7BEAE">
              <a:alpha val="30000"/>
            </a:srgbClr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A7BE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0" y="237744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集滿 3 點</a:t>
            </a:r>
            <a:pPr indent="0" marL="0">
              <a:buNone/>
            </a:pPr>
            <a:r>
              <a:rPr lang="en-US" sz="1100" dirty="0">
                <a:solidFill>
                  <a:srgbClr val="9A8F80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　——　獲 </a:t>
            </a:r>
            <a:pPr indent="0" marL="0">
              <a:buNone/>
            </a:pPr>
            <a:r>
              <a:rPr lang="en-US" sz="1300" spc="200" kern="0" dirty="0">
                <a:solidFill>
                  <a:srgbClr val="5C4A35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頭皮護理乙次（不含洗）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81635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300" kern="0" dirty="0">
                <a:solidFill>
                  <a:srgbClr val="A7BEAE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夏日療癒．中途喘息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52160" y="3474720"/>
            <a:ext cx="5760720" cy="1143000"/>
          </a:xfrm>
          <a:prstGeom prst="rect">
            <a:avLst/>
          </a:prstGeom>
          <a:solidFill>
            <a:srgbClr val="FFFDF9"/>
          </a:solidFill>
          <a:ln w="9525">
            <a:solidFill>
              <a:srgbClr val="E8DF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52160" y="3474720"/>
            <a:ext cx="91440" cy="1143000"/>
          </a:xfrm>
          <a:prstGeom prst="rect">
            <a:avLst/>
          </a:prstGeom>
          <a:solidFill>
            <a:srgbClr val="8B6F4E"/>
          </a:solidFill>
          <a:ln w="12700">
            <a:solidFill>
              <a:srgbClr val="8B6F4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3794760"/>
            <a:ext cx="502920" cy="502920"/>
          </a:xfrm>
          <a:prstGeom prst="ellipse">
            <a:avLst/>
          </a:prstGeom>
          <a:solidFill>
            <a:srgbClr val="8B6F4E">
              <a:alpha val="30000"/>
            </a:srgbClr>
          </a:solidFill>
          <a:ln w="12700">
            <a:solidFill>
              <a:srgbClr val="8B6F4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8B6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0" y="36576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集滿 6 點</a:t>
            </a:r>
            <a:pPr indent="0" marL="0">
              <a:buNone/>
            </a:pPr>
            <a:r>
              <a:rPr lang="en-US" sz="1100" dirty="0">
                <a:solidFill>
                  <a:srgbClr val="9A8F80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　——　獲 </a:t>
            </a:r>
            <a:pPr indent="0" marL="0">
              <a:buNone/>
            </a:pPr>
            <a:r>
              <a:rPr lang="en-US" sz="1300" spc="200" kern="0" dirty="0">
                <a:solidFill>
                  <a:srgbClr val="5C4A35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髮質淨化 3 劑乙次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409651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300" kern="0" dirty="0">
                <a:solidFill>
                  <a:srgbClr val="8B6F4E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年度犒賞．深度甦息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852160" y="48006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C4A35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專屬規則　</a:t>
            </a:r>
            <a:pPr indent="0" marL="0">
              <a:buNone/>
            </a:pPr>
            <a:r>
              <a:rPr lang="en-US" sz="110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護照綁定「同一位專屬設計師」，方能累積與兌換。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5257800"/>
            <a:ext cx="11064240" cy="1188720"/>
          </a:xfrm>
          <a:prstGeom prst="rect">
            <a:avLst/>
          </a:prstGeom>
          <a:solidFill>
            <a:srgbClr val="F1EBDF"/>
          </a:solidFill>
          <a:ln w="12700">
            <a:solidFill>
              <a:srgbClr val="F1EB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3492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5C4A35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給業主的商業邏輯　·　Why Binding to One Stylist?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5806440"/>
            <a:ext cx="411480" cy="411480"/>
          </a:xfrm>
          <a:prstGeom prst="ellipse">
            <a:avLst/>
          </a:prstGeom>
          <a:solidFill>
            <a:srgbClr val="A7BEAE">
              <a:alpha val="30000"/>
            </a:srgbClr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806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A7BE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234440" y="57150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spc="200" kern="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專屬陪伴感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6B6154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不是買服務，是擁有一位越來越懂她的設計師。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93008" y="5806440"/>
            <a:ext cx="411480" cy="411480"/>
          </a:xfrm>
          <a:prstGeom prst="ellipse">
            <a:avLst/>
          </a:prstGeom>
          <a:solidFill>
            <a:srgbClr val="8B6F4E">
              <a:alpha val="30000"/>
            </a:srgbClr>
          </a:solidFill>
          <a:ln w="12700">
            <a:solidFill>
              <a:srgbClr val="8B6F4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93008" y="5806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8B6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995928" y="57150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spc="200" kern="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LTV 提升 1.5–2x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6B6154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回訪週期穩定，新服務轉換接受度大幅提升。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54496" y="5806440"/>
            <a:ext cx="411480" cy="411480"/>
          </a:xfrm>
          <a:prstGeom prst="ellipse">
            <a:avLst/>
          </a:prstGeom>
          <a:solidFill>
            <a:srgbClr val="D4B5A5">
              <a:alpha val="30000"/>
            </a:srgbClr>
          </a:solidFill>
          <a:ln w="12700">
            <a:solidFill>
              <a:srgbClr val="D4B5A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54496" y="5806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D4B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57416" y="57150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spc="200" kern="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降低流失風險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6B6154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失去的不只是卡，而是一段累積的關係。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015984" y="5806440"/>
            <a:ext cx="411480" cy="411480"/>
          </a:xfrm>
          <a:prstGeom prst="ellipse">
            <a:avLst/>
          </a:prstGeom>
          <a:solidFill>
            <a:srgbClr val="B8934E">
              <a:alpha val="30000"/>
            </a:srgbClr>
          </a:solidFill>
          <a:ln w="12700">
            <a:solidFill>
              <a:srgbClr val="B8934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15984" y="5806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B893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518904" y="57150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spc="200" kern="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團隊留存雙贏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6B6154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設計師擁有忠誠客群，更願意長期深耕 TG。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EBDF"/>
          </a:solidFill>
          <a:ln w="12700">
            <a:solidFill>
              <a:srgbClr val="F1EB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spc="200" kern="0" dirty="0">
                <a:solidFill>
                  <a:srgbClr val="9A8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TG hair salon   ·   Tranquil Lifestyle Aesthetics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351215" y="6537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200" kern="0" dirty="0">
                <a:solidFill>
                  <a:srgbClr val="9A8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Summer 2026   ·   05 / 07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A7BE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23444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300" kern="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企劃總結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spc="400" kern="0" dirty="0">
                <a:solidFill>
                  <a:srgbClr val="8B6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Works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1064240" cy="0"/>
          </a:xfrm>
          <a:prstGeom prst="line">
            <a:avLst/>
          </a:prstGeom>
          <a:noFill/>
          <a:ln w="12700">
            <a:solidFill>
              <a:srgbClr val="E8DF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1005840" cy="868680"/>
          </a:xfrm>
          <a:prstGeom prst="rect">
            <a:avLst/>
          </a:prstGeom>
          <a:solidFill>
            <a:srgbClr val="A7BEAE">
              <a:alpha val="22000"/>
            </a:srgbClr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3736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A7BE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051560" y="2606040"/>
            <a:ext cx="0" cy="91440"/>
          </a:xfrm>
          <a:prstGeom prst="line">
            <a:avLst/>
          </a:prstGeom>
          <a:noFill/>
          <a:ln w="12700">
            <a:solidFill>
              <a:srgbClr val="E8DFD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645920" y="1737360"/>
            <a:ext cx="9966960" cy="868680"/>
          </a:xfrm>
          <a:prstGeom prst="rect">
            <a:avLst/>
          </a:prstGeom>
          <a:solidFill>
            <a:srgbClr val="FFFDF9"/>
          </a:solidFill>
          <a:ln w="6350">
            <a:solidFill>
              <a:srgbClr val="E8DF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0" y="1737360"/>
            <a:ext cx="73152" cy="86868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184708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新客鉤子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　</a:t>
            </a:r>
            <a:pPr indent="0" marL="0">
              <a:buNone/>
            </a:pPr>
            <a:r>
              <a:rPr lang="en-US" sz="1100" i="1" spc="200" kern="0" dirty="0">
                <a:solidFill>
                  <a:srgbClr val="8B6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Acquisition Hook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20240" y="221284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6B6154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以單一清爽價，降低踏入門檻，不淪為低價競爭。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1005840" cy="868680"/>
          </a:xfrm>
          <a:prstGeom prst="rect">
            <a:avLst/>
          </a:prstGeom>
          <a:solidFill>
            <a:srgbClr val="8B6F4E">
              <a:alpha val="22000"/>
            </a:srgbClr>
          </a:solidFill>
          <a:ln w="12700">
            <a:solidFill>
              <a:srgbClr val="8B6F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9748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8B6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1051560" y="3566160"/>
            <a:ext cx="0" cy="91440"/>
          </a:xfrm>
          <a:prstGeom prst="line">
            <a:avLst/>
          </a:prstGeom>
          <a:noFill/>
          <a:ln w="12700">
            <a:solidFill>
              <a:srgbClr val="E8DFD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645920" y="2697480"/>
            <a:ext cx="9966960" cy="868680"/>
          </a:xfrm>
          <a:prstGeom prst="rect">
            <a:avLst/>
          </a:prstGeom>
          <a:solidFill>
            <a:srgbClr val="FFFDF9"/>
          </a:solidFill>
          <a:ln w="6350">
            <a:solidFill>
              <a:srgbClr val="E8DF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0" y="2697480"/>
            <a:ext cx="73152" cy="868680"/>
          </a:xfrm>
          <a:prstGeom prst="rect">
            <a:avLst/>
          </a:prstGeom>
          <a:solidFill>
            <a:srgbClr val="8B6F4E"/>
          </a:solidFill>
          <a:ln w="12700">
            <a:solidFill>
              <a:srgbClr val="8B6F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0240" y="280720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中階錨定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　</a:t>
            </a:r>
            <a:pPr indent="0" marL="0">
              <a:buNone/>
            </a:pPr>
            <a:r>
              <a:rPr lang="en-US" sz="1100" i="1" spc="200" kern="0" dirty="0">
                <a:solidFill>
                  <a:srgbClr val="8B6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Anchor Menu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920240" y="317296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6B6154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A / B / C 三階梯讓顧客自然選擇中高階，提升平均客單。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1005840" cy="868680"/>
          </a:xfrm>
          <a:prstGeom prst="rect">
            <a:avLst/>
          </a:prstGeom>
          <a:solidFill>
            <a:srgbClr val="D4B5A5">
              <a:alpha val="22000"/>
            </a:srgbClr>
          </a:solidFill>
          <a:ln w="12700">
            <a:solidFill>
              <a:srgbClr val="D4B5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65760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D4B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1051560" y="4526280"/>
            <a:ext cx="0" cy="91440"/>
          </a:xfrm>
          <a:prstGeom prst="line">
            <a:avLst/>
          </a:prstGeom>
          <a:noFill/>
          <a:ln w="12700">
            <a:solidFill>
              <a:srgbClr val="E8DFD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645920" y="3657600"/>
            <a:ext cx="9966960" cy="868680"/>
          </a:xfrm>
          <a:prstGeom prst="rect">
            <a:avLst/>
          </a:prstGeom>
          <a:solidFill>
            <a:srgbClr val="FFFDF9"/>
          </a:solidFill>
          <a:ln w="6350">
            <a:solidFill>
              <a:srgbClr val="E8DF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0" y="3657600"/>
            <a:ext cx="73152" cy="868680"/>
          </a:xfrm>
          <a:prstGeom prst="rect">
            <a:avLst/>
          </a:prstGeom>
          <a:solidFill>
            <a:srgbClr val="D4B5A5"/>
          </a:solidFill>
          <a:ln w="12700">
            <a:solidFill>
              <a:srgbClr val="D4B5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20240" y="376732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加購升級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　</a:t>
            </a:r>
            <a:pPr indent="0" marL="0">
              <a:buNone/>
            </a:pPr>
            <a:r>
              <a:rPr lang="en-US" sz="1100" i="1" spc="200" kern="0" dirty="0">
                <a:solidFill>
                  <a:srgbClr val="8B6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Add-on Boosters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920240" y="413308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6B6154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以夏日情境包裝必要性，讓加購成為「自我照顧」而非推銷。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617720"/>
            <a:ext cx="1005840" cy="868680"/>
          </a:xfrm>
          <a:prstGeom prst="rect">
            <a:avLst/>
          </a:prstGeom>
          <a:solidFill>
            <a:srgbClr val="B8934E">
              <a:alpha val="22000"/>
            </a:srgbClr>
          </a:solidFill>
          <a:ln w="12700">
            <a:solidFill>
              <a:srgbClr val="B8934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61772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B893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29" name="Shape 27"/>
          <p:cNvSpPr/>
          <p:nvPr/>
        </p:nvSpPr>
        <p:spPr>
          <a:xfrm>
            <a:off x="1645920" y="4617720"/>
            <a:ext cx="9966960" cy="868680"/>
          </a:xfrm>
          <a:prstGeom prst="rect">
            <a:avLst/>
          </a:prstGeom>
          <a:solidFill>
            <a:srgbClr val="FFFDF9"/>
          </a:solidFill>
          <a:ln w="6350">
            <a:solidFill>
              <a:srgbClr val="E8DF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45920" y="4617720"/>
            <a:ext cx="73152" cy="868680"/>
          </a:xfrm>
          <a:prstGeom prst="rect">
            <a:avLst/>
          </a:prstGeom>
          <a:solidFill>
            <a:srgbClr val="B8934E"/>
          </a:solidFill>
          <a:ln w="12700">
            <a:solidFill>
              <a:srgbClr val="B8934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20240" y="472744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3A342C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熟客綁定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　</a:t>
            </a:r>
            <a:pPr indent="0" marL="0">
              <a:buNone/>
            </a:pPr>
            <a:r>
              <a:rPr lang="en-US" sz="1100" i="1" spc="200" kern="0" dirty="0">
                <a:solidFill>
                  <a:srgbClr val="8B6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Loyalty Program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920240" y="509320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6B6154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建立顧客 × 設計師的長期關係，提升 LTV 與團隊穩定性。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solidFill>
            <a:srgbClr val="8B6F4E">
              <a:alpha val="8000"/>
            </a:srgbClr>
          </a:solidFill>
          <a:ln w="6350">
            <a:solidFill>
              <a:srgbClr val="8B6F4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57150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spc="300" kern="0" dirty="0">
                <a:solidFill>
                  <a:srgbClr val="5C4A35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這個夏天，TG 不是在「做活動」，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spc="300" kern="0" dirty="0">
                <a:solidFill>
                  <a:srgbClr val="5C4A35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而是在泰山，為每一位走進來的人，留下一段能讓她記得一整年的——靜謐時光。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1EBDF"/>
          </a:solidFill>
          <a:ln w="12700">
            <a:solidFill>
              <a:srgbClr val="F1EBD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spc="200" kern="0" dirty="0">
                <a:solidFill>
                  <a:srgbClr val="9A8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TG hair salon   ·   Tranquil Lifestyle Aesthetics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351215" y="6537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spc="200" kern="0" dirty="0">
                <a:solidFill>
                  <a:srgbClr val="9A8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Summer 2026   ·   06 /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C4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B8934E"/>
          </a:solidFill>
          <a:ln w="12700">
            <a:solidFill>
              <a:srgbClr val="B893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731520"/>
            <a:ext cx="2560320" cy="2560320"/>
          </a:xfrm>
          <a:prstGeom prst="rect">
            <a:avLst/>
          </a:prstGeom>
          <a:solidFill>
            <a:srgbClr val="A7BEAE">
              <a:alpha val="30000"/>
            </a:srgbClr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3291840"/>
            <a:ext cx="1920240" cy="1920240"/>
          </a:xfrm>
          <a:prstGeom prst="rect">
            <a:avLst/>
          </a:prstGeom>
          <a:solidFill>
            <a:srgbClr val="D4B5A5">
              <a:alpha val="35000"/>
            </a:srgbClr>
          </a:solidFill>
          <a:ln w="12700">
            <a:solidFill>
              <a:srgbClr val="D4B5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03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spc="800" kern="0" dirty="0">
                <a:solidFill>
                  <a:srgbClr val="B893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  THANK YOU   —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6060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spc="600" kern="0" dirty="0">
                <a:solidFill>
                  <a:srgbClr val="FAF6F0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願這個夏天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05840" y="34747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spc="600" kern="0" dirty="0">
                <a:solidFill>
                  <a:srgbClr val="FAF6F0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我們一起，慢下來。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1005840" y="4663440"/>
            <a:ext cx="1371600" cy="0"/>
          </a:xfrm>
          <a:prstGeom prst="line">
            <a:avLst/>
          </a:prstGeom>
          <a:noFill/>
          <a:ln w="12700">
            <a:solidFill>
              <a:srgbClr val="B893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48463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i="1" spc="300" kern="0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TG hair salon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i="1" spc="400" kern="0" dirty="0">
                <a:solidFill>
                  <a:srgbClr val="E8DF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Tranquil Lifestyle Aesthetics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spc="300" kern="0" dirty="0">
                <a:solidFill>
                  <a:srgbClr val="E8DFD0"/>
                </a:solidFill>
                <a:latin typeface="PMingLiU" pitchFamily="34" charset="0"/>
                <a:ea typeface="PMingLiU" pitchFamily="34" charset="-122"/>
                <a:cs typeface="PMingLiU" pitchFamily="34" charset="-120"/>
              </a:rPr>
              <a:t>泰山明志店　·　泰山全興店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i="1" spc="200" kern="0" dirty="0">
                <a:solidFill>
                  <a:srgbClr val="B893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@tghair_salon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Summer Campaign — Tranquil Lifestyle Aesthetics</dc:title>
  <dc:subject>PptxGenJS Presentation</dc:subject>
  <dc:creator>TG hair salon</dc:creator>
  <cp:lastModifiedBy>TG hair salon</cp:lastModifiedBy>
  <cp:revision>1</cp:revision>
  <dcterms:created xsi:type="dcterms:W3CDTF">2026-04-22T15:08:09Z</dcterms:created>
  <dcterms:modified xsi:type="dcterms:W3CDTF">2026-04-22T15:08:09Z</dcterms:modified>
</cp:coreProperties>
</file>